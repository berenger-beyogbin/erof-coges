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6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2c2cd6d75649ba" /><Relationship Type="http://schemas.openxmlformats.org/officeDocument/2006/relationships/extended-properties" Target="/docProps/app.xml" Id="Raeb50c974bbd4be3" /><Relationship Type="http://schemas.openxmlformats.org/officeDocument/2006/relationships/officeDocument" Target="/ppt/presentation.xml" Id="Ref8fe74a9c644f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3fee15fe2546d1"/>
  </p:sldMasterIdLst>
  <p:notesMasterIdLst>
    <p:notesMasterId xmlns:r="http://schemas.openxmlformats.org/officeDocument/2006/relationships" r:id="R4ac6999e4b50431f"/>
  </p:notesMasterIdLst>
  <p:sldIdLst>
    <p:sldId xmlns:r="http://schemas.openxmlformats.org/officeDocument/2006/relationships" id="256" r:id="R7aa9ea2feb5243ae"/>
    <p:sldId xmlns:r="http://schemas.openxmlformats.org/officeDocument/2006/relationships" id="257" r:id="Rb7816ea1a711490f"/>
    <p:sldId xmlns:r="http://schemas.openxmlformats.org/officeDocument/2006/relationships" id="258" r:id="R81d4ee59c26e418b"/>
    <p:sldId xmlns:r="http://schemas.openxmlformats.org/officeDocument/2006/relationships" id="259" r:id="R0f1ea1a6ac604f3d"/>
    <p:sldId xmlns:r="http://schemas.openxmlformats.org/officeDocument/2006/relationships" id="260" r:id="R25f89045d5554675"/>
    <p:sldId xmlns:r="http://schemas.openxmlformats.org/officeDocument/2006/relationships" id="261" r:id="R2af2ca840daf4219"/>
    <p:sldId xmlns:r="http://schemas.openxmlformats.org/officeDocument/2006/relationships" id="262" r:id="R144083429442491c"/>
    <p:sldId xmlns:r="http://schemas.openxmlformats.org/officeDocument/2006/relationships" id="263" r:id="R2dfb0eed39714ffb"/>
    <p:sldId xmlns:r="http://schemas.openxmlformats.org/officeDocument/2006/relationships" id="264" r:id="R9502ab165b4a4710"/>
    <p:sldId xmlns:r="http://schemas.openxmlformats.org/officeDocument/2006/relationships" id="265" r:id="R57631bcc0c08483c"/>
    <p:sldId xmlns:r="http://schemas.openxmlformats.org/officeDocument/2006/relationships" id="266" r:id="R6a264d04c9f449bf"/>
    <p:sldId xmlns:r="http://schemas.openxmlformats.org/officeDocument/2006/relationships" id="267" r:id="Re27256eaee0a46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15f4249fad49bc" /><Relationship Type="http://schemas.openxmlformats.org/officeDocument/2006/relationships/slideMaster" Target="/ppt/slideMasters/slideMaster1.xml" Id="R543fee15fe2546d1" /><Relationship Type="http://schemas.openxmlformats.org/officeDocument/2006/relationships/notesMaster" Target="/ppt/notesMasters/notesMaster1.xml" Id="R4ac6999e4b50431f" /><Relationship Type="http://schemas.openxmlformats.org/officeDocument/2006/relationships/presProps" Target="/ppt/presProps.xml" Id="Rca1d62ad9c7e4be2" /><Relationship Type="http://schemas.openxmlformats.org/officeDocument/2006/relationships/tableStyles" Target="/ppt/tableStyles.xml" Id="R1ba3e14ee75540c6" /><Relationship Type="http://schemas.openxmlformats.org/officeDocument/2006/relationships/slide" Target="/ppt/slides/slide1.xml" Id="R7aa9ea2feb5243ae" /><Relationship Type="http://schemas.openxmlformats.org/officeDocument/2006/relationships/slide" Target="/ppt/slides/slide2.xml" Id="Rb7816ea1a711490f" /><Relationship Type="http://schemas.openxmlformats.org/officeDocument/2006/relationships/slide" Target="/ppt/slides/slide3.xml" Id="R81d4ee59c26e418b" /><Relationship Type="http://schemas.openxmlformats.org/officeDocument/2006/relationships/slide" Target="/ppt/slides/slide4.xml" Id="R0f1ea1a6ac604f3d" /><Relationship Type="http://schemas.openxmlformats.org/officeDocument/2006/relationships/slide" Target="/ppt/slides/slide5.xml" Id="R25f89045d5554675" /><Relationship Type="http://schemas.openxmlformats.org/officeDocument/2006/relationships/slide" Target="/ppt/slides/slide6.xml" Id="R2af2ca840daf4219" /><Relationship Type="http://schemas.openxmlformats.org/officeDocument/2006/relationships/slide" Target="/ppt/slides/slide7.xml" Id="R144083429442491c" /><Relationship Type="http://schemas.openxmlformats.org/officeDocument/2006/relationships/slide" Target="/ppt/slides/slide8.xml" Id="R2dfb0eed39714ffb" /><Relationship Type="http://schemas.openxmlformats.org/officeDocument/2006/relationships/slide" Target="/ppt/slides/slide9.xml" Id="R9502ab165b4a4710" /><Relationship Type="http://schemas.openxmlformats.org/officeDocument/2006/relationships/slide" Target="/ppt/slides/slide10.xml" Id="R57631bcc0c08483c" /><Relationship Type="http://schemas.openxmlformats.org/officeDocument/2006/relationships/slide" Target="/ppt/slides/slide11.xml" Id="R6a264d04c9f449bf" /><Relationship Type="http://schemas.openxmlformats.org/officeDocument/2006/relationships/slide" Target="/ppt/slides/slide12.xml" Id="Re27256eaee0a46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4f9e42c15a4d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2f33a269224f93" /><Relationship Type="http://schemas.openxmlformats.org/officeDocument/2006/relationships/notesMaster" Target="/ppt/notesMasters/notesMaster1.xml" Id="R492dcb1940a14e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afdadd9470408f" /><Relationship Type="http://schemas.openxmlformats.org/officeDocument/2006/relationships/notesMaster" Target="/ppt/notesMasters/notesMaster1.xml" Id="Ra91df7f96b4746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9f529ffb144c15" /><Relationship Type="http://schemas.openxmlformats.org/officeDocument/2006/relationships/notesMaster" Target="/ppt/notesMasters/notesMaster1.xml" Id="Rff0a22810d8143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dd60bba7774c7a" /><Relationship Type="http://schemas.openxmlformats.org/officeDocument/2006/relationships/notesMaster" Target="/ppt/notesMasters/notesMaster1.xml" Id="R6e44bb88dd484e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085f933d8d40bd" /><Relationship Type="http://schemas.openxmlformats.org/officeDocument/2006/relationships/notesMaster" Target="/ppt/notesMasters/notesMaster1.xml" Id="R207bfaae297b41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4314cce0544274" /><Relationship Type="http://schemas.openxmlformats.org/officeDocument/2006/relationships/notesMaster" Target="/ppt/notesMasters/notesMaster1.xml" Id="Rf96c84719fab46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5dfdb69d014cda" /><Relationship Type="http://schemas.openxmlformats.org/officeDocument/2006/relationships/notesMaster" Target="/ppt/notesMasters/notesMaster1.xml" Id="R3b8c7cb5e5d946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909840f7b24cb4" /><Relationship Type="http://schemas.openxmlformats.org/officeDocument/2006/relationships/notesMaster" Target="/ppt/notesMasters/notesMaster1.xml" Id="R2ff355846ef14d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e9671a248e4907" /><Relationship Type="http://schemas.openxmlformats.org/officeDocument/2006/relationships/notesMaster" Target="/ppt/notesMasters/notesMaster1.xml" Id="R246bf40faa5c4e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6be07f8bf84f8e" /><Relationship Type="http://schemas.openxmlformats.org/officeDocument/2006/relationships/notesMaster" Target="/ppt/notesMasters/notesMaster1.xml" Id="R9cc6fb4dff4843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f313794a7f46f8" /><Relationship Type="http://schemas.openxmlformats.org/officeDocument/2006/relationships/notesMaster" Target="/ppt/notesMasters/notesMaster1.xml" Id="R1a86cd97ceb345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10742b7f704e4a" /><Relationship Type="http://schemas.openxmlformats.org/officeDocument/2006/relationships/notesMaster" Target="/ppt/notesMasters/notesMaster1.xml" Id="R5c4eb08ad3ba49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l’objectif : expliquer l’outil, partager les résultats consolidés et ouvrir la discussion sur les priorités d’appui.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 brute EROF du 27/07/2026</a:t>
            </a:r>
          </a:p>
          <a:p xmlns:a="http://schemas.openxmlformats.org/drawingml/2006/main">
            <a:r>
              <a:t>- Formulaire EROF, version fournie par l’utilisateur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 pas parcourir les 20 sections une à une. Insister sur la logique : informations générales, notation des pratiques, puis vérification documentaire.</a:t>
            </a:r>
          </a:p>
          <a:p xmlns:a="http://schemas.openxmlformats.org/drawingml/2006/main">
            <a:r>
              <a:t>Expliquer que l’échelle de 1 à 5 rend les dimensions comparables.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Formulaire EROF PDF fourni par l’utilisateur (25 pages)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Souligner la couverture géographique : les 12 DRENA comptent chacune 15 à 20 saisies.</a:t>
            </a:r>
          </a:p>
          <a:p xmlns:a="http://schemas.openxmlformats.org/drawingml/2006/main">
            <a:r>
              <a:t>Préciser que les analyses de score portent sur les 185 dossiers validés.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 brute EROF du 27/07/2026, onglet « Base brute »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d’abord le score moyen, puis la distribution : le résultat central est encourageant mais 75 COGES restent sous le niveau fonctionnel.</a:t>
            </a:r>
          </a:p>
          <a:p xmlns:a="http://schemas.openxmlformats.org/drawingml/2006/main">
            <a:r>
              <a:t>Les 19 brouillons sans score ne sont pas inclus.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 brute EROF du 27/07/2026, colonnes « Score global » et « Classification »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Lire ce graphique comme un signal de ciblage, non comme un classement définitif.</a:t>
            </a:r>
          </a:p>
          <a:p xmlns:a="http://schemas.openxmlformats.org/drawingml/2006/main">
            <a:r>
              <a:t>Danané, Daloa et Agboville se situent autour de 3,8 ; Odienné est à 2,81.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 brute EROF du 27/07/2026 ; moyennes calculées sur les évaluations validées par DRENA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Mettre en évidence le contraste : les documents sont souvent présents et classés, mais peu de COGES disposent d’un mécanisme financier de réponse aux crises.</a:t>
            </a:r>
          </a:p>
          <a:p xmlns:a="http://schemas.openxmlformats.org/drawingml/2006/main">
            <a:r>
              <a:t>Les dimensions sont des moyennes des questions notées de leur section.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 brute EROF du 27/07/2026, questions des sections 4 à 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Donner deux exemples concrets : participation quasi systématique du directeur et forte présence du PACC.</a:t>
            </a:r>
          </a:p>
          <a:p xmlns:a="http://schemas.openxmlformats.org/drawingml/2006/main">
            <a:r>
              <a:t>Rappeler qu’un bon score déclaré doit être rapproché de la disponibilité des pièces justificatives.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 brute EROF du 27/07/2026 ; moyennes des questions notées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Ces scores donnent une base simple pour prioriser les appuis.</a:t>
            </a:r>
          </a:p>
          <a:p xmlns:a="http://schemas.openxmlformats.org/drawingml/2006/main">
            <a:r>
              <a:t>Insister sur la combinaison financement, résilience et ouverture aux partenaires.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 brute EROF du 27/07/2026 ; cinq plus faibles moyennes de questions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Expliquer que « disponible » regroupe les pièces consultées et non consultées.</a:t>
            </a:r>
          </a:p>
          <a:p xmlns:a="http://schemas.openxmlformats.org/drawingml/2006/main">
            <a:r>
              <a:t>La disponibilité globale est de 1 977 pièces sur 4 080 attendues.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 brute EROF du 27/07/2026, onglet « Preuves documentaires »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Nuancer : la parité numérique ne garantit pas la présence des femmes aux postes de décision.</a:t>
            </a:r>
          </a:p>
          <a:p xmlns:a="http://schemas.openxmlformats.org/drawingml/2006/main">
            <a:r>
              <a:t>La variable de formation est non renseignée pour une large part des membres ; présenter 33 % comme un minimum observé, pas comme une mesure exhaustive.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Base brute EROF du 27/07/2026, onglet « Membres BE »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ces priorités comme une proposition de discussion.</a:t>
            </a:r>
          </a:p>
          <a:p xmlns:a="http://schemas.openxmlformats.org/drawingml/2006/main">
            <a:r>
              <a:t>Pour chaque priorité, demander qui porte l’action, avec quel calendrier et quel indicateur de suivi.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Synthèse analytique fondée sur la base brute EROF du 27/07/2026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Conclure en revenant à la finalité : utiliser les résultats pour décider, accompagner et suivre.</a:t>
            </a:r>
          </a:p>
          <a:p xmlns:a="http://schemas.openxmlformats.org/drawingml/2006/main">
            <a:r>
              <a:t>Ouvrir les échanges sur les trois priorités proposées.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Synthèse analytique fondée sur le formulaire et la base brute EROF fournis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2de7200bd543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d4b1aae10b43b0" /><Relationship Type="http://schemas.openxmlformats.org/officeDocument/2006/relationships/slideLayout" Target="/ppt/slideLayouts/slideLayout1.xml" Id="R61f440ea5b334d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f440ea5b334d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f7c0b18fd40f6" /><Relationship Type="http://schemas.openxmlformats.org/officeDocument/2006/relationships/notesSlide" Target="/ppt/notesSlides/notesSlide1.xml" Id="Rb326bfc1ab5646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8d9d9768f429e" /><Relationship Type="http://schemas.openxmlformats.org/officeDocument/2006/relationships/image" Target="/ppt/media/image.png" Id="R5bb83f8a5328473d" /><Relationship Type="http://schemas.openxmlformats.org/officeDocument/2006/relationships/notesSlide" Target="/ppt/notesSlides/notesSlide2.xml" Id="Rbea5a82b3f9e42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0881d24cb4d64" /><Relationship Type="http://schemas.openxmlformats.org/officeDocument/2006/relationships/chart" Target="/ppt/slides/charts/chart1.xml" Id="Rbee58da9155448d2" /><Relationship Type="http://schemas.openxmlformats.org/officeDocument/2006/relationships/notesSlide" Target="/ppt/notesSlides/notesSlide3.xml" Id="Rcb95e099055a4a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3373d48974d7a" /><Relationship Type="http://schemas.openxmlformats.org/officeDocument/2006/relationships/chart" Target="/ppt/slides/charts/chart2.xml" Id="R2fedeccabd46489f" /><Relationship Type="http://schemas.openxmlformats.org/officeDocument/2006/relationships/notesSlide" Target="/ppt/notesSlides/notesSlide4.xml" Id="R547d2bc9776143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5aabf4cd24a90" /><Relationship Type="http://schemas.openxmlformats.org/officeDocument/2006/relationships/chart" Target="/ppt/slides/charts/chart3.xml" Id="R02975a76bf12417f" /><Relationship Type="http://schemas.openxmlformats.org/officeDocument/2006/relationships/notesSlide" Target="/ppt/notesSlides/notesSlide5.xml" Id="R9aba29c026a74e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7d34a556144ef" /><Relationship Type="http://schemas.openxmlformats.org/officeDocument/2006/relationships/chart" Target="/ppt/slides/charts/chart4.xml" Id="R8fde541b43e64004" /><Relationship Type="http://schemas.openxmlformats.org/officeDocument/2006/relationships/notesSlide" Target="/ppt/notesSlides/notesSlide6.xml" Id="Rbbde2b21182f4b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dd621e7fb4eac" /><Relationship Type="http://schemas.openxmlformats.org/officeDocument/2006/relationships/notesSlide" Target="/ppt/notesSlides/notesSlide7.xml" Id="R2c422515668a42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197d405e349c5" /><Relationship Type="http://schemas.openxmlformats.org/officeDocument/2006/relationships/notesSlide" Target="/ppt/notesSlides/notesSlide8.xml" Id="Re2782a27363b41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8e0fc429541f0" /><Relationship Type="http://schemas.openxmlformats.org/officeDocument/2006/relationships/chart" Target="/ppt/slides/charts/chart5.xml" Id="R22f69adb469e4e19" /><Relationship Type="http://schemas.openxmlformats.org/officeDocument/2006/relationships/notesSlide" Target="/ppt/notesSlides/notesSlide9.xml" Id="R5c8d0833597946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c815541bd405d" /><Relationship Type="http://schemas.openxmlformats.org/officeDocument/2006/relationships/chart" Target="/ppt/slides/charts/chart6.xml" Id="R05c60e1a23244180" /><Relationship Type="http://schemas.openxmlformats.org/officeDocument/2006/relationships/notesSlide" Target="/ppt/notesSlides/notesSlide10.xml" Id="R4e48ac07f3734f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71bc7418c48db" /><Relationship Type="http://schemas.openxmlformats.org/officeDocument/2006/relationships/notesSlide" Target="/ppt/notesSlides/notesSlide11.xml" Id="Rcccb1a7abbcd4d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25f4eb35344c6" /><Relationship Type="http://schemas.openxmlformats.org/officeDocument/2006/relationships/notesSlide" Target="/ppt/notesSlides/notesSlide12.xml" Id="Rff508bbe0ea0428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Valeur</c:v>
          </c:tx>
          <c:spPr>
            <a:solidFill xmlns:a="http://schemas.openxmlformats.org/drawingml/2006/main">
              <a:srgbClr val="19A7AE"/>
            </a:solidFill>
          </c:spPr>
          <c:cat>
            <c:strLit>
              <c:ptCount val="4"/>
              <c:pt idx="0">
                <c:v>Urbain</c:v>
              </c:pt>
              <c:pt idx="1">
                <c:v>Rural</c:v>
              </c:pt>
              <c:pt idx="2">
                <c:v>Périurbain</c:v>
              </c:pt>
              <c:pt idx="3">
                <c:v>Non renseigné</c:v>
              </c:pt>
            </c:strLit>
          </c:cat>
          <c:val>
            <c:numLit>
              <c:formatCode>General</c:formatCode>
              <c:ptCount val="4"/>
              <c:pt idx="0">
                <c:v>96</c:v>
              </c:pt>
              <c:pt idx="1">
                <c:v>95</c:v>
              </c:pt>
              <c:pt idx="2">
                <c:v>2</c:v>
              </c:pt>
              <c:pt idx="3">
                <c:v>11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EF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Valeur</c:v>
          </c:tx>
          <c:spPr>
            <a:solidFill xmlns:a="http://schemas.openxmlformats.org/drawingml/2006/main">
              <a:srgbClr val="155E9A"/>
            </a:solidFill>
          </c:spPr>
          <c:cat>
            <c:strLit>
              <c:ptCount val="5"/>
              <c:pt idx="0">
                <c:v>Critique</c:v>
              </c:pt>
              <c:pt idx="1">
                <c:v>Faible</c:v>
              </c:pt>
              <c:pt idx="2">
                <c:v>Moyen</c:v>
              </c:pt>
              <c:pt idx="3">
                <c:v>Fonctionnel</c:v>
              </c:pt>
              <c:pt idx="4">
                <c:v>Avancé</c:v>
              </c:pt>
            </c:strLit>
          </c:cat>
          <c:val>
            <c:numLit>
              <c:formatCode>General</c:formatCode>
              <c:ptCount val="5"/>
              <c:pt idx="0">
                <c:v>2</c:v>
              </c:pt>
              <c:pt idx="1">
                <c:v>33</c:v>
              </c:pt>
              <c:pt idx="2">
                <c:v>40</c:v>
              </c:pt>
              <c:pt idx="3">
                <c:v>96</c:v>
              </c:pt>
              <c:pt idx="4">
                <c:v>14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EF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Valeur</c:v>
          </c:tx>
          <c:spPr>
            <a:solidFill xmlns:a="http://schemas.openxmlformats.org/drawingml/2006/main">
              <a:srgbClr val="155E9A"/>
            </a:solidFill>
          </c:spPr>
          <c:cat>
            <c:strLit>
              <c:ptCount val="12"/>
              <c:pt idx="0">
                <c:v>Danané</c:v>
              </c:pt>
              <c:pt idx="1">
                <c:v>Daloa</c:v>
              </c:pt>
              <c:pt idx="2">
                <c:v>Agboville</c:v>
              </c:pt>
              <c:pt idx="3">
                <c:v>Man</c:v>
              </c:pt>
              <c:pt idx="4">
                <c:v>Touba</c:v>
              </c:pt>
              <c:pt idx="5">
                <c:v>Tiassalé</c:v>
              </c:pt>
              <c:pt idx="6">
                <c:v>Duékoué</c:v>
              </c:pt>
              <c:pt idx="7">
                <c:v>Issia</c:v>
              </c:pt>
              <c:pt idx="8">
                <c:v>Minignan</c:v>
              </c:pt>
              <c:pt idx="9">
                <c:v>Ferké</c:v>
              </c:pt>
              <c:pt idx="10">
                <c:v>Guiglo</c:v>
              </c:pt>
              <c:pt idx="11">
                <c:v>Odienné</c:v>
              </c:pt>
            </c:strLit>
          </c:cat>
          <c:val>
            <c:numLit>
              <c:formatCode>General</c:formatCode>
              <c:ptCount val="12"/>
              <c:pt idx="0">
                <c:v>3.79</c:v>
              </c:pt>
              <c:pt idx="1">
                <c:v>3.78</c:v>
              </c:pt>
              <c:pt idx="2">
                <c:v>3.77</c:v>
              </c:pt>
              <c:pt idx="3">
                <c:v>3.69</c:v>
              </c:pt>
              <c:pt idx="4">
                <c:v>3.67</c:v>
              </c:pt>
              <c:pt idx="5">
                <c:v>3.64</c:v>
              </c:pt>
              <c:pt idx="6">
                <c:v>3.51</c:v>
              </c:pt>
              <c:pt idx="7">
                <c:v>3.49</c:v>
              </c:pt>
              <c:pt idx="8">
                <c:v>3.45</c:v>
              </c:pt>
              <c:pt idx="9">
                <c:v>3.33</c:v>
              </c:pt>
              <c:pt idx="10">
                <c:v>3.32</c:v>
              </c:pt>
              <c:pt idx="11">
                <c:v>2.81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EF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Valeur</c:v>
          </c:tx>
          <c:spPr>
            <a:solidFill xmlns:a="http://schemas.openxmlformats.org/drawingml/2006/main">
              <a:srgbClr val="19A7AE"/>
            </a:solidFill>
          </c:spPr>
          <c:cat>
            <c:strLit>
              <c:ptCount val="11"/>
              <c:pt idx="0">
                <c:v>Documents</c:v>
              </c:pt>
              <c:pt idx="1">
                <c:v>Apprentissages</c:v>
              </c:pt>
              <c:pt idx="2">
                <c:v>Gestion financière</c:v>
              </c:pt>
              <c:pt idx="3">
                <c:v>Fonctionnement</c:v>
              </c:pt>
              <c:pt idx="4">
                <c:v>Partenariats</c:v>
              </c:pt>
              <c:pt idx="5">
                <c:v>Planification</c:v>
              </c:pt>
              <c:pt idx="6">
                <c:v>Gouvernance</c:v>
              </c:pt>
              <c:pt idx="7">
                <c:v>Participation</c:v>
              </c:pt>
              <c:pt idx="8">
                <c:v>Inclusion</c:v>
              </c:pt>
              <c:pt idx="9">
                <c:v>Protection</c:v>
              </c:pt>
              <c:pt idx="10">
                <c:v>Résilience</c:v>
              </c:pt>
            </c:strLit>
          </c:cat>
          <c:val>
            <c:numLit>
              <c:formatCode>General</c:formatCode>
              <c:ptCount val="11"/>
              <c:pt idx="0">
                <c:v>4.19</c:v>
              </c:pt>
              <c:pt idx="1">
                <c:v>3.85</c:v>
              </c:pt>
              <c:pt idx="2">
                <c:v>3.8</c:v>
              </c:pt>
              <c:pt idx="3">
                <c:v>3.65</c:v>
              </c:pt>
              <c:pt idx="4">
                <c:v>3.65</c:v>
              </c:pt>
              <c:pt idx="5">
                <c:v>3.49</c:v>
              </c:pt>
              <c:pt idx="6">
                <c:v>3.44</c:v>
              </c:pt>
              <c:pt idx="7">
                <c:v>3.31</c:v>
              </c:pt>
              <c:pt idx="8">
                <c:v>3.11</c:v>
              </c:pt>
              <c:pt idx="9">
                <c:v>2.99</c:v>
              </c:pt>
              <c:pt idx="10">
                <c:v>1.45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EF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Valeur</c:v>
          </c:tx>
          <c:spPr>
            <a:solidFill xmlns:a="http://schemas.openxmlformats.org/drawingml/2006/main">
              <a:srgbClr val="2E8B67"/>
            </a:solidFill>
          </c:spPr>
          <c:cat>
            <c:strLit>
              <c:ptCount val="7"/>
              <c:pt idx="0">
                <c:v>PACC</c:v>
              </c:pt>
              <c:pt idx="1">
                <c:v>Liste du BE</c:v>
              </c:pt>
              <c:pt idx="2">
                <c:v>RIB</c:v>
              </c:pt>
              <c:pt idx="3">
                <c:v>Carnet retrait</c:v>
              </c:pt>
              <c:pt idx="4">
                <c:v>PV AG élective</c:v>
              </c:pt>
              <c:pt idx="5">
                <c:v>Textes réglementaires</c:v>
              </c:pt>
              <c:pt idx="6">
                <c:v>Budget</c:v>
              </c:pt>
            </c:strLit>
          </c:cat>
          <c:val>
            <c:numLit>
              <c:formatCode>General</c:formatCode>
              <c:ptCount val="7"/>
              <c:pt idx="0">
                <c:v>82.4</c:v>
              </c:pt>
              <c:pt idx="1">
                <c:v>81.4</c:v>
              </c:pt>
              <c:pt idx="2">
                <c:v>81.4</c:v>
              </c:pt>
              <c:pt idx="3">
                <c:v>80.4</c:v>
              </c:pt>
              <c:pt idx="4">
                <c:v>70.1</c:v>
              </c:pt>
              <c:pt idx="5">
                <c:v>67.2</c:v>
              </c:pt>
              <c:pt idx="6">
                <c:v>60.8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EF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Valeur</c:v>
          </c:tx>
          <c:spPr>
            <a:solidFill xmlns:a="http://schemas.openxmlformats.org/drawingml/2006/main">
              <a:srgbClr val="155E9A"/>
            </a:solidFill>
          </c:spPr>
          <c:cat>
            <c:strLit>
              <c:ptCount val="3"/>
              <c:pt idx="0">
                <c:v>Faible</c:v>
              </c:pt>
              <c:pt idx="1">
                <c:v>Moyenne</c:v>
              </c:pt>
              <c:pt idx="2">
                <c:v>Bonne</c:v>
              </c:pt>
            </c:strLit>
          </c:cat>
          <c:val>
            <c:numLit>
              <c:formatCode>General</c:formatCode>
              <c:ptCount val="3"/>
              <c:pt idx="0">
                <c:v>217</c:v>
              </c:pt>
              <c:pt idx="1">
                <c:v>1698</c:v>
              </c:pt>
              <c:pt idx="2">
                <c:v>329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EF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ld-band">
            <a:extLst xmlns:a="http://schemas.openxmlformats.org/drawingml/2006/main">
              <a:ext uri="{FF2B5EF4-FFF2-40B4-BE49-F238E27FC236}">
                <a16:creationId xmlns:a16="http://schemas.microsoft.com/office/drawing/2014/main" id="{6368DF97-B08A-4DA5-8925-6ADA175C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21A39723-40DC-4841-BAAE-735FE07D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A3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A317"/>
                </a:solidFill>
                <a:latin typeface="Aptos"/>
                <a:ea typeface="Aptos"/>
                <a:cs typeface="Aptos"/>
              </a:rPr>
              <a:t>COMMUNICATION DES RÉSULTATS · COLLECTE EROF 2026</a:t>
            </a:r>
          </a:p>
        </p:txBody>
      </p:sp>
      <p:sp>
        <p:nvSpPr>
          <p:cNvPr id="3" name="main-title">
            <a:extLst xmlns:a="http://schemas.openxmlformats.org/drawingml/2006/main">
              <a:ext uri="{FF2B5EF4-FFF2-40B4-BE49-F238E27FC236}">
                <a16:creationId xmlns:a16="http://schemas.microsoft.com/office/drawing/2014/main" id="{45FDA13A-DA81-48A5-A5AF-F8518028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Évaluation du fonctionnement des COGES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48F5B83A-4C99-40A5-8434-309EC69A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6E3F0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D6E3F0"/>
                </a:solidFill>
                <a:latin typeface="Aptos"/>
                <a:ea typeface="Aptos"/>
                <a:cs typeface="Aptos"/>
              </a:rPr>
              <a:t>Présentation du formulaire et premiers enseignements de la collecte</a:t>
            </a:r>
          </a:p>
        </p:txBody>
      </p:sp>
      <p:sp>
        <p:nvSpPr>
          <p:cNvPr id="5" name="scope">
            <a:extLst xmlns:a="http://schemas.openxmlformats.org/drawingml/2006/main">
              <a:ext uri="{FF2B5EF4-FFF2-40B4-BE49-F238E27FC236}">
                <a16:creationId xmlns:a16="http://schemas.microsoft.com/office/drawing/2014/main" id="{1B4D07BF-F18D-4A4B-8CD2-3FD42DC3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578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204 COGES · 12 DRENA · Base arrêtée au 27 juillet 2026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92A42A6-913D-46ED-BBE6-3AD9A5C8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8C7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C7D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534291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81245A69-F8C2-452D-BEE9-6C7E12C0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E9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5E9A"/>
                </a:solidFill>
                <a:latin typeface="Aptos"/>
                <a:ea typeface="Aptos"/>
                <a:cs typeface="Aptos"/>
              </a:rPr>
              <a:t>1 · L’OUTIL D’ÉVALUATION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4B97556-ADF7-4B7D-9A6D-76E137ED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233F"/>
                </a:solidFill>
                <a:latin typeface="Aptos"/>
                <a:ea typeface="Aptos"/>
                <a:cs typeface="Aptos"/>
              </a:rPr>
              <a:t> Un formulaire structuré pour relier gouvernance, pratiques et preuves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AA0F7CF-6611-427C-9F4B-FE8FB228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0EE1F46-56AF-4523-872C-7E18036C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83f8a5328473d"/>
          <a:stretch xmlns:a="http://schemas.openxmlformats.org/drawingml/2006/main"/>
        </p:blipFill>
        <p:spPr>
          <a:xfrm xmlns:a="http://schemas.openxmlformats.org/drawingml/2006/main">
            <a:off x="828372" y="1619250"/>
            <a:ext cx="3201006" cy="4524375"/>
          </a:xfrm>
          <a:prstGeom xmlns:a="http://schemas.openxmlformats.org/drawingml/2006/main" prst="rect">
            <a:avLst/>
          </a:prstGeom>
        </p:spPr>
      </p:pic>
      <p:sp>
        <p:nvSpPr>
          <p:cNvPr id="6" name="form-count">
            <a:extLst xmlns:a="http://schemas.openxmlformats.org/drawingml/2006/main">
              <a:ext uri="{FF2B5EF4-FFF2-40B4-BE49-F238E27FC236}">
                <a16:creationId xmlns:a16="http://schemas.microsoft.com/office/drawing/2014/main" id="{8A516582-E5F2-4CF0-AD53-410EADB2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95450"/>
            <a:ext cx="1476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55E9A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55E9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7" name="form-count-label">
            <a:extLst xmlns:a="http://schemas.openxmlformats.org/drawingml/2006/main">
              <a:ext uri="{FF2B5EF4-FFF2-40B4-BE49-F238E27FC236}">
                <a16:creationId xmlns:a16="http://schemas.microsoft.com/office/drawing/2014/main" id="{2FC8454A-4468-475B-A143-E3BD09FB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57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sections thématiques</a:t>
            </a:r>
          </a:p>
        </p:txBody>
      </p:sp>
      <p:sp>
        <p:nvSpPr>
          <p:cNvPr id="8" name="form-pages">
            <a:extLst xmlns:a="http://schemas.openxmlformats.org/drawingml/2006/main">
              <a:ext uri="{FF2B5EF4-FFF2-40B4-BE49-F238E27FC236}">
                <a16:creationId xmlns:a16="http://schemas.microsoft.com/office/drawing/2014/main" id="{423BF71F-587A-4B8C-865E-951139DD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1476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9A7AE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9A7AE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9" name="form-pages-label">
            <a:extLst xmlns:a="http://schemas.openxmlformats.org/drawingml/2006/main">
              <a:ext uri="{FF2B5EF4-FFF2-40B4-BE49-F238E27FC236}">
                <a16:creationId xmlns:a16="http://schemas.microsoft.com/office/drawing/2014/main" id="{F29B6CB8-E6A7-4F81-83CF-374DA497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766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pages de collecte</a:t>
            </a:r>
          </a:p>
        </p:txBody>
      </p:sp>
      <p:sp>
        <p:nvSpPr>
          <p:cNvPr id="10" name="form-scale">
            <a:extLst xmlns:a="http://schemas.openxmlformats.org/drawingml/2006/main">
              <a:ext uri="{FF2B5EF4-FFF2-40B4-BE49-F238E27FC236}">
                <a16:creationId xmlns:a16="http://schemas.microsoft.com/office/drawing/2014/main" id="{C7343DEC-E2B9-4A81-B5D7-A683E2E3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72000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8A31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E8A317"/>
                </a:solidFill>
                <a:latin typeface="Aptos"/>
                <a:ea typeface="Aptos"/>
                <a:cs typeface="Aptos"/>
              </a:rPr>
              <a:t>1 → 5</a:t>
            </a:r>
          </a:p>
        </p:txBody>
      </p:sp>
      <p:sp>
        <p:nvSpPr>
          <p:cNvPr id="11" name="form-scale-label">
            <a:extLst xmlns:a="http://schemas.openxmlformats.org/drawingml/2006/main">
              <a:ext uri="{FF2B5EF4-FFF2-40B4-BE49-F238E27FC236}">
                <a16:creationId xmlns:a16="http://schemas.microsoft.com/office/drawing/2014/main" id="{60EFBC66-E301-4341-872A-762D30F6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0542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57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échelle commune de notation</a:t>
            </a:r>
          </a:p>
        </p:txBody>
      </p:sp>
      <p:sp>
        <p:nvSpPr>
          <p:cNvPr id="12" name="form-logic">
            <a:extLst xmlns:a="http://schemas.openxmlformats.org/drawingml/2006/main">
              <a:ext uri="{FF2B5EF4-FFF2-40B4-BE49-F238E27FC236}">
                <a16:creationId xmlns:a16="http://schemas.microsoft.com/office/drawing/2014/main" id="{DA645629-B17C-4F73-927A-03DE7BD0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57375"/>
            <a:ext cx="3714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Le dispositif combine identification, fonctionnement des organes, gestion financière, planification, partenariats, inclusion et contrôle des pièces justificatives.</a:t>
            </a:r>
          </a:p>
        </p:txBody>
      </p:sp>
      <p:sp>
        <p:nvSpPr>
          <p:cNvPr id="13" name="logic-line">
            <a:extLst xmlns:a="http://schemas.openxmlformats.org/drawingml/2006/main">
              <a:ext uri="{FF2B5EF4-FFF2-40B4-BE49-F238E27FC236}">
                <a16:creationId xmlns:a16="http://schemas.microsoft.com/office/drawing/2014/main" id="{2312D90C-C9AE-4CB0-8486-6512ACDD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38625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rm-message">
            <a:extLst xmlns:a="http://schemas.openxmlformats.org/drawingml/2006/main">
              <a:ext uri="{FF2B5EF4-FFF2-40B4-BE49-F238E27FC236}">
                <a16:creationId xmlns:a16="http://schemas.microsoft.com/office/drawing/2014/main" id="{793EA24F-1372-4CB4-887D-8E588970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95800"/>
            <a:ext cx="371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0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233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233F"/>
                </a:solidFill>
                <a:latin typeface="Aptos"/>
                <a:ea typeface="Aptos"/>
                <a:cs typeface="Aptos"/>
              </a:rPr>
              <a:t>La force de l’outil : confronter la perception déclarée aux preuves effectivement disponibles.</a:t>
            </a:r>
          </a:p>
        </p:txBody>
      </p:sp>
    </p:spTree>
    <p:extLst>
      <p:ext uri="{BB962C8B-B14F-4D97-AF65-F5344CB8AC3E}">
        <p14:creationId xmlns:p14="http://schemas.microsoft.com/office/powerpoint/2010/main" val="10953258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8B440032-06F3-4704-8D45-DB765FEF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E9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5E9A"/>
                </a:solidFill>
                <a:latin typeface="Aptos"/>
                <a:ea typeface="Aptos"/>
                <a:cs typeface="Aptos"/>
              </a:rPr>
              <a:t>2 · PÉRIMÈTRE ET QUALITÉ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7601ED9-1809-47B3-A33C-B5127515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233F"/>
                </a:solidFill>
                <a:latin typeface="Aptos"/>
                <a:ea typeface="Aptos"/>
                <a:cs typeface="Aptos"/>
              </a:rPr>
              <a:t> Une collecte large, équilibrée entre milieu urbain et rural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70CCE41-66DD-4553-A984-11086AE4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8849EFA-FFD2-45C3-A8AE-3FE51893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stat-bg-évaluations enregistrées">
            <a:extLst xmlns:a="http://schemas.openxmlformats.org/drawingml/2006/main">
              <a:ext uri="{FF2B5EF4-FFF2-40B4-BE49-F238E27FC236}">
                <a16:creationId xmlns:a16="http://schemas.microsoft.com/office/drawing/2014/main" id="{866DE146-3EB5-4788-8002-2179B398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t-accent-évaluations enregistrées">
            <a:extLst xmlns:a="http://schemas.openxmlformats.org/drawingml/2006/main">
              <a:ext uri="{FF2B5EF4-FFF2-40B4-BE49-F238E27FC236}">
                <a16:creationId xmlns:a16="http://schemas.microsoft.com/office/drawing/2014/main" id="{4554834A-2CAC-40D6-922D-F9EEC661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t-value-évaluations enregistrées">
            <a:extLst xmlns:a="http://schemas.openxmlformats.org/drawingml/2006/main">
              <a:ext uri="{FF2B5EF4-FFF2-40B4-BE49-F238E27FC236}">
                <a16:creationId xmlns:a16="http://schemas.microsoft.com/office/drawing/2014/main" id="{0A90B6F4-1ECF-4260-9780-0843F3D1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2905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55E9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55E9A"/>
                </a:solidFill>
                <a:latin typeface="Aptos"/>
                <a:ea typeface="Aptos"/>
                <a:cs typeface="Aptos"/>
              </a:rPr>
              <a:t>204</a:t>
            </a:r>
          </a:p>
        </p:txBody>
      </p:sp>
      <p:sp>
        <p:nvSpPr>
          <p:cNvPr id="8" name="stat-label-évaluations enregistrées">
            <a:extLst xmlns:a="http://schemas.openxmlformats.org/drawingml/2006/main">
              <a:ext uri="{FF2B5EF4-FFF2-40B4-BE49-F238E27FC236}">
                <a16:creationId xmlns:a16="http://schemas.microsoft.com/office/drawing/2014/main" id="{FCC15E7E-D802-4D32-81F7-4365A425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14625"/>
            <a:ext cx="2905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évaluations enregistrées</a:t>
            </a:r>
          </a:p>
        </p:txBody>
      </p:sp>
      <p:sp>
        <p:nvSpPr>
          <p:cNvPr id="9" name="stat-bg-évaluations validées">
            <a:extLst xmlns:a="http://schemas.openxmlformats.org/drawingml/2006/main">
              <a:ext uri="{FF2B5EF4-FFF2-40B4-BE49-F238E27FC236}">
                <a16:creationId xmlns:a16="http://schemas.microsoft.com/office/drawing/2014/main" id="{BBB7FDE2-AF19-4420-8842-7624F331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t-accent-évaluations validées">
            <a:extLst xmlns:a="http://schemas.openxmlformats.org/drawingml/2006/main">
              <a:ext uri="{FF2B5EF4-FFF2-40B4-BE49-F238E27FC236}">
                <a16:creationId xmlns:a16="http://schemas.microsoft.com/office/drawing/2014/main" id="{FA13CED2-DB7D-4F94-9F49-930598FB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t-value-évaluations validées">
            <a:extLst xmlns:a="http://schemas.openxmlformats.org/drawingml/2006/main">
              <a:ext uri="{FF2B5EF4-FFF2-40B4-BE49-F238E27FC236}">
                <a16:creationId xmlns:a16="http://schemas.microsoft.com/office/drawing/2014/main" id="{3952E455-99FE-4694-94EA-C1087A70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981200"/>
            <a:ext cx="2905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E8B6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2E8B67"/>
                </a:solidFill>
                <a:latin typeface="Aptos"/>
                <a:ea typeface="Aptos"/>
                <a:cs typeface="Aptos"/>
              </a:rPr>
              <a:t>185</a:t>
            </a:r>
          </a:p>
        </p:txBody>
      </p:sp>
      <p:sp>
        <p:nvSpPr>
          <p:cNvPr id="12" name="stat-label-évaluations validées">
            <a:extLst xmlns:a="http://schemas.openxmlformats.org/drawingml/2006/main">
              <a:ext uri="{FF2B5EF4-FFF2-40B4-BE49-F238E27FC236}">
                <a16:creationId xmlns:a16="http://schemas.microsoft.com/office/drawing/2014/main" id="{794150F3-46F0-4BE1-A17D-3454B664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14625"/>
            <a:ext cx="2905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évaluations validées</a:t>
            </a:r>
          </a:p>
        </p:txBody>
      </p:sp>
      <p:sp>
        <p:nvSpPr>
          <p:cNvPr id="13" name="stat-bg-DRENA couvertes">
            <a:extLst xmlns:a="http://schemas.openxmlformats.org/drawingml/2006/main">
              <a:ext uri="{FF2B5EF4-FFF2-40B4-BE49-F238E27FC236}">
                <a16:creationId xmlns:a16="http://schemas.microsoft.com/office/drawing/2014/main" id="{10018869-5A21-4039-A22F-EDD10201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1450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at-accent-DRENA couvertes">
            <a:extLst xmlns:a="http://schemas.openxmlformats.org/drawingml/2006/main">
              <a:ext uri="{FF2B5EF4-FFF2-40B4-BE49-F238E27FC236}">
                <a16:creationId xmlns:a16="http://schemas.microsoft.com/office/drawing/2014/main" id="{32366170-40CE-4662-B9CF-0D695D09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145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t-value-DRENA couvertes">
            <a:extLst xmlns:a="http://schemas.openxmlformats.org/drawingml/2006/main">
              <a:ext uri="{FF2B5EF4-FFF2-40B4-BE49-F238E27FC236}">
                <a16:creationId xmlns:a16="http://schemas.microsoft.com/office/drawing/2014/main" id="{97ABC47F-3B6C-425F-BE2C-E28DCF92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81200"/>
            <a:ext cx="2905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8A31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E8A31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6" name="stat-label-DRENA couvertes">
            <a:extLst xmlns:a="http://schemas.openxmlformats.org/drawingml/2006/main">
              <a:ext uri="{FF2B5EF4-FFF2-40B4-BE49-F238E27FC236}">
                <a16:creationId xmlns:a16="http://schemas.microsoft.com/office/drawing/2014/main" id="{A62A42B2-81F1-45FD-9412-16310DFF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14625"/>
            <a:ext cx="2905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DRENA couvertes</a:t>
            </a:r>
          </a:p>
        </p:txBody>
      </p:sp>
      <p:sp>
        <p:nvSpPr>
          <p:cNvPr id="17" name="coverage">
            <a:extLst xmlns:a="http://schemas.openxmlformats.org/drawingml/2006/main">
              <a:ext uri="{FF2B5EF4-FFF2-40B4-BE49-F238E27FC236}">
                <a16:creationId xmlns:a16="http://schemas.microsoft.com/office/drawing/2014/main" id="{4FF931D6-FDAB-435E-8382-4A3F50FE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33F"/>
                </a:solidFill>
                <a:latin typeface="Aptos"/>
                <a:ea typeface="Aptos"/>
                <a:cs typeface="Aptos"/>
              </a:rPr>
              <a:t>Répartition du milieu de collecte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523875" y="4714875"/>
          <a:ext xmlns:a="http://schemas.openxmlformats.org/drawingml/2006/main" cx="6191250" cy="1571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e58da9155448d2"/>
          </a:graphicData>
        </a:graphic>
      </p:graphicFrame>
      <p:sp>
        <p:nvSpPr>
          <p:cNvPr id="19" name="valid-rate">
            <a:extLst xmlns:a="http://schemas.openxmlformats.org/drawingml/2006/main">
              <a:ext uri="{FF2B5EF4-FFF2-40B4-BE49-F238E27FC236}">
                <a16:creationId xmlns:a16="http://schemas.microsoft.com/office/drawing/2014/main" id="{44A79F06-0621-4879-854D-28D1A497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767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2E8B67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2E8B67"/>
                </a:solidFill>
                <a:latin typeface="Aptos"/>
                <a:ea typeface="Aptos"/>
                <a:cs typeface="Aptos"/>
              </a:rPr>
              <a:t>91 %</a:t>
            </a:r>
          </a:p>
        </p:txBody>
      </p:sp>
      <p:sp>
        <p:nvSpPr>
          <p:cNvPr id="20" name="valid-copy">
            <a:extLst xmlns:a="http://schemas.openxmlformats.org/drawingml/2006/main">
              <a:ext uri="{FF2B5EF4-FFF2-40B4-BE49-F238E27FC236}">
                <a16:creationId xmlns:a16="http://schemas.microsoft.com/office/drawing/2014/main" id="{B0F54AB6-119F-429A-9842-F768ADD4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863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des évaluations sont validées</a:t>
            </a:r>
          </a:p>
          <a:p xmlns:a="http://schemas.openxmlformats.org/drawingml/2006/main"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19 brouillons restent à finaliser</a:t>
            </a:r>
          </a:p>
        </p:txBody>
      </p:sp>
    </p:spTree>
    <p:extLst>
      <p:ext uri="{BB962C8B-B14F-4D97-AF65-F5344CB8AC3E}">
        <p14:creationId xmlns:p14="http://schemas.microsoft.com/office/powerpoint/2010/main" val="9680681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4EB48BB7-E460-4839-A99E-0428667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E9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5E9A"/>
                </a:solidFill>
                <a:latin typeface="Aptos"/>
                <a:ea typeface="Aptos"/>
                <a:cs typeface="Aptos"/>
              </a:rPr>
              <a:t>3 · RÉSULTAT GLOBAL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A79DB98-7894-4622-AB09-E6FFF87D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233F"/>
                </a:solidFill>
                <a:latin typeface="Aptos"/>
                <a:ea typeface="Aptos"/>
                <a:cs typeface="Aptos"/>
              </a:rPr>
              <a:t> Le niveau moyen est fonctionnel, mais la maturité reste hétérogène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9319257-11FF-4444-AD4A-75DFD44C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5DF958F-AC99-4AF6-A1BB-782943AE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mean">
            <a:extLst xmlns:a="http://schemas.openxmlformats.org/drawingml/2006/main">
              <a:ext uri="{FF2B5EF4-FFF2-40B4-BE49-F238E27FC236}">
                <a16:creationId xmlns:a16="http://schemas.microsoft.com/office/drawing/2014/main" id="{ECBA5B84-CDC4-4A16-A287-1DB24521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385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55E9A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155E9A"/>
                </a:solidFill>
                <a:latin typeface="Aptos"/>
                <a:ea typeface="Aptos"/>
                <a:cs typeface="Aptos"/>
              </a:rPr>
              <a:t>3,52 / 5</a:t>
            </a:r>
          </a:p>
        </p:txBody>
      </p:sp>
      <p:sp>
        <p:nvSpPr>
          <p:cNvPr id="6" name="median">
            <a:extLst xmlns:a="http://schemas.openxmlformats.org/drawingml/2006/main">
              <a:ext uri="{FF2B5EF4-FFF2-40B4-BE49-F238E27FC236}">
                <a16:creationId xmlns:a16="http://schemas.microsoft.com/office/drawing/2014/main" id="{766C4A4B-77DF-46C2-B6FF-A3443B79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Médiane : 3,62 · Étendue : 1,93 à 4,78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857750" y="1619250"/>
          <a:ext xmlns:a="http://schemas.openxmlformats.org/drawingml/2006/main" cx="638175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edeccabd46489f"/>
          </a:graphicData>
        </a:graphic>
      </p:graphicFrame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1D449DC8-D3B6-4D3B-A278-0224C72E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357187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4F864925-CDBA-4E6B-A998-194E3902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E8B67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E8B67"/>
                </a:solidFill>
                <a:latin typeface="Aptos"/>
                <a:ea typeface="Aptos"/>
                <a:cs typeface="Aptos"/>
              </a:rPr>
              <a:t>59 %</a:t>
            </a:r>
          </a:p>
        </p:txBody>
      </p:sp>
      <p:sp>
        <p:nvSpPr>
          <p:cNvPr id="10" name="takeaway-copy">
            <a:extLst xmlns:a="http://schemas.openxmlformats.org/drawingml/2006/main">
              <a:ext uri="{FF2B5EF4-FFF2-40B4-BE49-F238E27FC236}">
                <a16:creationId xmlns:a16="http://schemas.microsoft.com/office/drawing/2014/main" id="{916B0C80-60F5-459C-B9AD-C6E22EB4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des COGES validés sont classés « fonctionnels » ou « avancés ».</a:t>
            </a:r>
          </a:p>
        </p:txBody>
      </p:sp>
      <p:sp>
        <p:nvSpPr>
          <p:cNvPr id="11" name="foot">
            <a:extLst xmlns:a="http://schemas.openxmlformats.org/drawingml/2006/main">
              <a:ext uri="{FF2B5EF4-FFF2-40B4-BE49-F238E27FC236}">
                <a16:creationId xmlns:a16="http://schemas.microsoft.com/office/drawing/2014/main" id="{3A89C5BF-C188-43A8-B1C3-CE8FF0A6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76875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Base de calcul : 185 évaluations validées</a:t>
            </a:r>
          </a:p>
        </p:txBody>
      </p:sp>
    </p:spTree>
    <p:extLst>
      <p:ext uri="{BB962C8B-B14F-4D97-AF65-F5344CB8AC3E}">
        <p14:creationId xmlns:p14="http://schemas.microsoft.com/office/powerpoint/2010/main" val="10188010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8FE13B41-E8E9-452A-9B09-D163B856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E9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5E9A"/>
                </a:solidFill>
                <a:latin typeface="Aptos"/>
                <a:ea typeface="Aptos"/>
                <a:cs typeface="Aptos"/>
              </a:rPr>
              <a:t>3 · RÉSULTAT GLOBAL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5528B94-613C-49EC-9278-5D8A64CE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233F"/>
                </a:solidFill>
                <a:latin typeface="Aptos"/>
                <a:ea typeface="Aptos"/>
                <a:cs typeface="Aptos"/>
              </a:rPr>
              <a:t> Les écarts territoriaux atteignent près d’un point sur cinq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2FF109A-0B3B-47D6-9FA1-FFC02D07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FD9F2388-A9A3-497B-9922-39875F44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619250"/>
          <a:ext xmlns:a="http://schemas.openxmlformats.org/drawingml/2006/main" cx="742950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975a76bf12417f"/>
          </a:graphicData>
        </a:graphic>
      </p:graphicFrame>
      <p:sp>
        <p:nvSpPr>
          <p:cNvPr id="6" name="gap">
            <a:extLst xmlns:a="http://schemas.openxmlformats.org/drawingml/2006/main">
              <a:ext uri="{FF2B5EF4-FFF2-40B4-BE49-F238E27FC236}">
                <a16:creationId xmlns:a16="http://schemas.microsoft.com/office/drawing/2014/main" id="{4C9A593B-4C4E-4BA4-8692-5A47DE4A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E56B3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56B3F"/>
                </a:solidFill>
                <a:latin typeface="Aptos"/>
                <a:ea typeface="Aptos"/>
                <a:cs typeface="Aptos"/>
              </a:rPr>
              <a:t>0,98 point</a:t>
            </a:r>
          </a:p>
        </p:txBody>
      </p:sp>
      <p:sp>
        <p:nvSpPr>
          <p:cNvPr id="7" name="gap-label">
            <a:extLst xmlns:a="http://schemas.openxmlformats.org/drawingml/2006/main">
              <a:ext uri="{FF2B5EF4-FFF2-40B4-BE49-F238E27FC236}">
                <a16:creationId xmlns:a16="http://schemas.microsoft.com/office/drawing/2014/main" id="{537AD332-864C-4CB7-8E4D-73C470FA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146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sépare la moyenne la plus haute de la plus basse</a:t>
            </a:r>
          </a:p>
        </p:txBody>
      </p:sp>
      <p:sp>
        <p:nvSpPr>
          <p:cNvPr id="8" name="caution">
            <a:extLst xmlns:a="http://schemas.openxmlformats.org/drawingml/2006/main">
              <a:ext uri="{FF2B5EF4-FFF2-40B4-BE49-F238E27FC236}">
                <a16:creationId xmlns:a16="http://schemas.microsoft.com/office/drawing/2014/main" id="{85113CF8-A70A-4F0F-9C93-9252286C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00500"/>
            <a:ext cx="2952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ution-text">
            <a:extLst xmlns:a="http://schemas.openxmlformats.org/drawingml/2006/main">
              <a:ext uri="{FF2B5EF4-FFF2-40B4-BE49-F238E27FC236}">
                <a16:creationId xmlns:a16="http://schemas.microsoft.com/office/drawing/2014/main" id="{3BB1BCE1-4260-4F6D-930B-7457B293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195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6B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56B3F"/>
                </a:solidFill>
                <a:latin typeface="Aptos"/>
                <a:ea typeface="Aptos"/>
                <a:cs typeface="Aptos"/>
              </a:rPr>
              <a:t>À approfondir</a:t>
            </a:r>
          </a:p>
        </p:txBody>
      </p:sp>
      <p:sp>
        <p:nvSpPr>
          <p:cNvPr id="10" name="caution-copy">
            <a:extLst xmlns:a="http://schemas.openxmlformats.org/drawingml/2006/main">
              <a:ext uri="{FF2B5EF4-FFF2-40B4-BE49-F238E27FC236}">
                <a16:creationId xmlns:a16="http://schemas.microsoft.com/office/drawing/2014/main" id="{FEF29C4C-AC04-46A6-97B4-252D9F25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910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28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Comparer les contextes et les appuis disponibles avant d’en tirer des conclusions causales.</a:t>
            </a:r>
          </a:p>
        </p:txBody>
      </p:sp>
    </p:spTree>
    <p:extLst>
      <p:ext uri="{BB962C8B-B14F-4D97-AF65-F5344CB8AC3E}">
        <p14:creationId xmlns:p14="http://schemas.microsoft.com/office/powerpoint/2010/main" val="8888768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235F6AA9-61BE-4F26-95DC-3A1D8E77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E9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5E9A"/>
                </a:solidFill>
                <a:latin typeface="Aptos"/>
                <a:ea typeface="Aptos"/>
                <a:cs typeface="Aptos"/>
              </a:rPr>
              <a:t>4 · LECTURE PAR DIMENSION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F100412-0030-4CFC-9F3E-6E37DFB3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69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233F"/>
                </a:solidFill>
                <a:latin typeface="Aptos"/>
                <a:ea typeface="Aptos"/>
                <a:cs typeface="Aptos"/>
              </a:rPr>
              <a:t> La documentation est solide ; la résilience demeure le principal angle mort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002F394-3B9E-4038-B7E1-7F2D0448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3E94937-65C3-4BC5-A08A-2B4F2B14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23875" y="1619250"/>
          <a:ext xmlns:a="http://schemas.openxmlformats.org/drawingml/2006/main" cx="7620000" cy="4429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de541b43e64004"/>
          </a:graphicData>
        </a:graphic>
      </p:graphicFrame>
      <p:sp>
        <p:nvSpPr>
          <p:cNvPr id="6" name="axis-high">
            <a:extLst xmlns:a="http://schemas.openxmlformats.org/drawingml/2006/main">
              <a:ext uri="{FF2B5EF4-FFF2-40B4-BE49-F238E27FC236}">
                <a16:creationId xmlns:a16="http://schemas.microsoft.com/office/drawing/2014/main" id="{7BA2412F-4D38-4AB0-8051-69F215A0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57375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81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E8B6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2E8B67"/>
                </a:solidFill>
                <a:latin typeface="Aptos"/>
                <a:ea typeface="Aptos"/>
                <a:cs typeface="Aptos"/>
              </a:rPr>
              <a:t>4,19</a:t>
            </a:r>
          </a:p>
        </p:txBody>
      </p:sp>
      <p:sp>
        <p:nvSpPr>
          <p:cNvPr id="7" name="axis-high-l">
            <a:extLst xmlns:a="http://schemas.openxmlformats.org/drawingml/2006/main">
              <a:ext uri="{FF2B5EF4-FFF2-40B4-BE49-F238E27FC236}">
                <a16:creationId xmlns:a16="http://schemas.microsoft.com/office/drawing/2014/main" id="{320E5DF3-8F65-4114-8E98-B509996F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Documentation</a:t>
            </a:r>
          </a:p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et classement</a:t>
            </a:r>
          </a:p>
        </p:txBody>
      </p:sp>
      <p:sp>
        <p:nvSpPr>
          <p:cNvPr id="8" name="axis-low">
            <a:extLst xmlns:a="http://schemas.openxmlformats.org/drawingml/2006/main">
              <a:ext uri="{FF2B5EF4-FFF2-40B4-BE49-F238E27FC236}">
                <a16:creationId xmlns:a16="http://schemas.microsoft.com/office/drawing/2014/main" id="{3C926F55-09DD-4086-A813-40ABFDAC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57625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81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C43D3D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43D3D"/>
                </a:solidFill>
                <a:latin typeface="Aptos"/>
                <a:ea typeface="Aptos"/>
                <a:cs typeface="Aptos"/>
              </a:rPr>
              <a:t>1,45</a:t>
            </a:r>
          </a:p>
        </p:txBody>
      </p:sp>
      <p:sp>
        <p:nvSpPr>
          <p:cNvPr id="9" name="axis-low-l">
            <a:extLst xmlns:a="http://schemas.openxmlformats.org/drawingml/2006/main">
              <a:ext uri="{FF2B5EF4-FFF2-40B4-BE49-F238E27FC236}">
                <a16:creationId xmlns:a16="http://schemas.microsoft.com/office/drawing/2014/main" id="{3A5AA46F-3D11-43E2-A402-B090AF17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Préparation</a:t>
            </a:r>
          </a:p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aux crises</a:t>
            </a:r>
          </a:p>
        </p:txBody>
      </p:sp>
    </p:spTree>
    <p:extLst>
      <p:ext uri="{BB962C8B-B14F-4D97-AF65-F5344CB8AC3E}">
        <p14:creationId xmlns:p14="http://schemas.microsoft.com/office/powerpoint/2010/main" val="19367766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">
            <a:extLst xmlns:a="http://schemas.openxmlformats.org/drawingml/2006/main">
              <a:ext uri="{FF2B5EF4-FFF2-40B4-BE49-F238E27FC236}">
                <a16:creationId xmlns:a16="http://schemas.microsoft.com/office/drawing/2014/main" id="{1594ED93-CDB6-4E32-AC4A-8FBD41EB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E9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5E9A"/>
                </a:solidFill>
                <a:latin typeface="Aptos"/>
                <a:ea typeface="Aptos"/>
                <a:cs typeface="Aptos"/>
              </a:rPr>
              <a:t>4 · POINTS FORTS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B991FC1-0D72-405E-BEF5-28A391C4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233F"/>
                </a:solidFill>
                <a:latin typeface="Aptos"/>
                <a:ea typeface="Aptos"/>
                <a:cs typeface="Aptos"/>
              </a:rPr>
              <a:t> Les acquis reposent sur l’ancrage institutionnel et les outils de base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4CBB8E9-6F6F-4ED2-9AE1-8F56D35C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455F7950-CB9B-4BEA-A60A-8F0DE9D1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rank0">
            <a:extLst xmlns:a="http://schemas.openxmlformats.org/drawingml/2006/main">
              <a:ext uri="{FF2B5EF4-FFF2-40B4-BE49-F238E27FC236}">
                <a16:creationId xmlns:a16="http://schemas.microsoft.com/office/drawing/2014/main" id="{E6802131-737C-401B-A1F7-7E06263E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A3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8A31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item0">
            <a:extLst xmlns:a="http://schemas.openxmlformats.org/drawingml/2006/main">
              <a:ext uri="{FF2B5EF4-FFF2-40B4-BE49-F238E27FC236}">
                <a16:creationId xmlns:a16="http://schemas.microsoft.com/office/drawing/2014/main" id="{F34C0FC1-27B3-4470-9C04-D03A04EC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6668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Participation du directeur aux AG</a:t>
            </a:r>
          </a:p>
        </p:txBody>
      </p:sp>
      <p:sp>
        <p:nvSpPr>
          <p:cNvPr id="7" name="score0">
            <a:extLst xmlns:a="http://schemas.openxmlformats.org/drawingml/2006/main">
              <a:ext uri="{FF2B5EF4-FFF2-40B4-BE49-F238E27FC236}">
                <a16:creationId xmlns:a16="http://schemas.microsoft.com/office/drawing/2014/main" id="{8DD329FE-4491-4B27-A79E-9D4D8DB7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668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2E8B6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E8B67"/>
                </a:solidFill>
                <a:latin typeface="Aptos"/>
                <a:ea typeface="Aptos"/>
                <a:cs typeface="Aptos"/>
              </a:rPr>
              <a:t>4,98 / 5</a:t>
            </a:r>
          </a:p>
        </p:txBody>
      </p:sp>
      <p:sp>
        <p:nvSpPr>
          <p:cNvPr id="8" name="line0">
            <a:extLst xmlns:a="http://schemas.openxmlformats.org/drawingml/2006/main">
              <a:ext uri="{FF2B5EF4-FFF2-40B4-BE49-F238E27FC236}">
                <a16:creationId xmlns:a16="http://schemas.microsoft.com/office/drawing/2014/main" id="{62568AD7-711A-4FD4-81C2-E613F023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00275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ank1">
            <a:extLst xmlns:a="http://schemas.openxmlformats.org/drawingml/2006/main">
              <a:ext uri="{FF2B5EF4-FFF2-40B4-BE49-F238E27FC236}">
                <a16:creationId xmlns:a16="http://schemas.microsoft.com/office/drawing/2014/main" id="{F00049B0-A5F8-405C-87B7-1026CA65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A3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8A31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item1">
            <a:extLst xmlns:a="http://schemas.openxmlformats.org/drawingml/2006/main">
              <a:ext uri="{FF2B5EF4-FFF2-40B4-BE49-F238E27FC236}">
                <a16:creationId xmlns:a16="http://schemas.microsoft.com/office/drawing/2014/main" id="{4B51EB69-17EB-4DEA-B33B-4AD0EF60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050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Carnet d’activités et de retrait</a:t>
            </a:r>
          </a:p>
        </p:txBody>
      </p:sp>
      <p:sp>
        <p:nvSpPr>
          <p:cNvPr id="11" name="score1">
            <a:extLst xmlns:a="http://schemas.openxmlformats.org/drawingml/2006/main">
              <a:ext uri="{FF2B5EF4-FFF2-40B4-BE49-F238E27FC236}">
                <a16:creationId xmlns:a16="http://schemas.microsoft.com/office/drawing/2014/main" id="{BA50CAFB-BD19-4CBA-B989-EC8E171B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050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2E8B6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E8B67"/>
                </a:solidFill>
                <a:latin typeface="Aptos"/>
                <a:ea typeface="Aptos"/>
                <a:cs typeface="Aptos"/>
              </a:rPr>
              <a:t>4,81 / 5</a:t>
            </a:r>
          </a:p>
        </p:txBody>
      </p:sp>
      <p:sp>
        <p:nvSpPr>
          <p:cNvPr id="12" name="line1">
            <a:extLst xmlns:a="http://schemas.openxmlformats.org/drawingml/2006/main">
              <a:ext uri="{FF2B5EF4-FFF2-40B4-BE49-F238E27FC236}">
                <a16:creationId xmlns:a16="http://schemas.microsoft.com/office/drawing/2014/main" id="{05EF3907-F849-485F-BB6F-25D82087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38475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nk2">
            <a:extLst xmlns:a="http://schemas.openxmlformats.org/drawingml/2006/main">
              <a:ext uri="{FF2B5EF4-FFF2-40B4-BE49-F238E27FC236}">
                <a16:creationId xmlns:a16="http://schemas.microsoft.com/office/drawing/2014/main" id="{D326A9DF-8B8A-4E5B-B7E1-E5BFD269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4327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A3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8A31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item2">
            <a:extLst xmlns:a="http://schemas.openxmlformats.org/drawingml/2006/main">
              <a:ext uri="{FF2B5EF4-FFF2-40B4-BE49-F238E27FC236}">
                <a16:creationId xmlns:a16="http://schemas.microsoft.com/office/drawing/2014/main" id="{0B526167-0F76-4F50-AC28-E93BE377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432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Plan d’action communautaire</a:t>
            </a:r>
          </a:p>
        </p:txBody>
      </p:sp>
      <p:sp>
        <p:nvSpPr>
          <p:cNvPr id="15" name="score2">
            <a:extLst xmlns:a="http://schemas.openxmlformats.org/drawingml/2006/main">
              <a:ext uri="{FF2B5EF4-FFF2-40B4-BE49-F238E27FC236}">
                <a16:creationId xmlns:a16="http://schemas.microsoft.com/office/drawing/2014/main" id="{28285494-66B4-4A1F-96A0-0EBA70B7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432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2E8B6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E8B67"/>
                </a:solidFill>
                <a:latin typeface="Aptos"/>
                <a:ea typeface="Aptos"/>
                <a:cs typeface="Aptos"/>
              </a:rPr>
              <a:t>4,67 / 5</a:t>
            </a:r>
          </a:p>
        </p:txBody>
      </p:sp>
      <p:sp>
        <p:nvSpPr>
          <p:cNvPr id="16" name="line2">
            <a:extLst xmlns:a="http://schemas.openxmlformats.org/drawingml/2006/main">
              <a:ext uri="{FF2B5EF4-FFF2-40B4-BE49-F238E27FC236}">
                <a16:creationId xmlns:a16="http://schemas.microsoft.com/office/drawing/2014/main" id="{34B47995-53B1-44C8-89ED-CC010C36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76675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ank3">
            <a:extLst xmlns:a="http://schemas.openxmlformats.org/drawingml/2006/main">
              <a:ext uri="{FF2B5EF4-FFF2-40B4-BE49-F238E27FC236}">
                <a16:creationId xmlns:a16="http://schemas.microsoft.com/office/drawing/2014/main" id="{9C68DC83-EF21-4FBA-BC39-3A3D7919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8147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A3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8A31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item3">
            <a:extLst xmlns:a="http://schemas.openxmlformats.org/drawingml/2006/main">
              <a:ext uri="{FF2B5EF4-FFF2-40B4-BE49-F238E27FC236}">
                <a16:creationId xmlns:a16="http://schemas.microsoft.com/office/drawing/2014/main" id="{63CECF7D-5EA7-4670-9715-043FA2AA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814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Respect des mandats</a:t>
            </a:r>
          </a:p>
        </p:txBody>
      </p:sp>
      <p:sp>
        <p:nvSpPr>
          <p:cNvPr id="19" name="score3">
            <a:extLst xmlns:a="http://schemas.openxmlformats.org/drawingml/2006/main">
              <a:ext uri="{FF2B5EF4-FFF2-40B4-BE49-F238E27FC236}">
                <a16:creationId xmlns:a16="http://schemas.microsoft.com/office/drawing/2014/main" id="{567443EB-3375-47D0-ADE5-5F8A1344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814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2E8B6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E8B67"/>
                </a:solidFill>
                <a:latin typeface="Aptos"/>
                <a:ea typeface="Aptos"/>
                <a:cs typeface="Aptos"/>
              </a:rPr>
              <a:t>4,59 / 5</a:t>
            </a:r>
          </a:p>
        </p:txBody>
      </p:sp>
      <p:sp>
        <p:nvSpPr>
          <p:cNvPr id="20" name="line3">
            <a:extLst xmlns:a="http://schemas.openxmlformats.org/drawingml/2006/main">
              <a:ext uri="{FF2B5EF4-FFF2-40B4-BE49-F238E27FC236}">
                <a16:creationId xmlns:a16="http://schemas.microsoft.com/office/drawing/2014/main" id="{8C55484A-E789-4C51-BF52-FB9159D6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14875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ank4">
            <a:extLst xmlns:a="http://schemas.openxmlformats.org/drawingml/2006/main">
              <a:ext uri="{FF2B5EF4-FFF2-40B4-BE49-F238E27FC236}">
                <a16:creationId xmlns:a16="http://schemas.microsoft.com/office/drawing/2014/main" id="{8FC4C5B3-98C3-4B88-BA63-4732880E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967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A3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8A31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2" name="item4">
            <a:extLst xmlns:a="http://schemas.openxmlformats.org/drawingml/2006/main">
              <a:ext uri="{FF2B5EF4-FFF2-40B4-BE49-F238E27FC236}">
                <a16:creationId xmlns:a16="http://schemas.microsoft.com/office/drawing/2014/main" id="{08AF4F48-B7C1-436E-9F89-8F9EADBB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196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Élection démocratique du bureau</a:t>
            </a:r>
          </a:p>
        </p:txBody>
      </p:sp>
      <p:sp>
        <p:nvSpPr>
          <p:cNvPr id="23" name="score4">
            <a:extLst xmlns:a="http://schemas.openxmlformats.org/drawingml/2006/main">
              <a:ext uri="{FF2B5EF4-FFF2-40B4-BE49-F238E27FC236}">
                <a16:creationId xmlns:a16="http://schemas.microsoft.com/office/drawing/2014/main" id="{4FCA9BD2-ACB7-4A55-8AAF-171DFD5F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196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2E8B6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E8B67"/>
                </a:solidFill>
                <a:latin typeface="Aptos"/>
                <a:ea typeface="Aptos"/>
                <a:cs typeface="Aptos"/>
              </a:rPr>
              <a:t>4,47 / 5</a:t>
            </a:r>
          </a:p>
        </p:txBody>
      </p:sp>
      <p:sp>
        <p:nvSpPr>
          <p:cNvPr id="24" name="line4">
            <a:extLst xmlns:a="http://schemas.openxmlformats.org/drawingml/2006/main">
              <a:ext uri="{FF2B5EF4-FFF2-40B4-BE49-F238E27FC236}">
                <a16:creationId xmlns:a16="http://schemas.microsoft.com/office/drawing/2014/main" id="{3B8154D9-3A2D-468A-8C1F-9794419C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553075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eaning">
            <a:extLst xmlns:a="http://schemas.openxmlformats.org/drawingml/2006/main">
              <a:ext uri="{FF2B5EF4-FFF2-40B4-BE49-F238E27FC236}">
                <a16:creationId xmlns:a16="http://schemas.microsoft.com/office/drawing/2014/main" id="{F5A8099E-15A3-41A0-9AF2-FF7189AD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7626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669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233F"/>
                </a:solidFill>
                <a:latin typeface="Aptos"/>
                <a:ea typeface="Aptos"/>
                <a:cs typeface="Aptos"/>
              </a:rPr>
              <a:t>Ces acquis constituent un socle à préserver : légitimité du bureau, implication de la direction et outils de planification.</a:t>
            </a:r>
          </a:p>
        </p:txBody>
      </p:sp>
    </p:spTree>
    <p:extLst>
      <p:ext uri="{BB962C8B-B14F-4D97-AF65-F5344CB8AC3E}">
        <p14:creationId xmlns:p14="http://schemas.microsoft.com/office/powerpoint/2010/main" val="2785235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BD6E76F4-8D28-46C1-A3C0-BB5B217D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E9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5E9A"/>
                </a:solidFill>
                <a:latin typeface="Aptos"/>
                <a:ea typeface="Aptos"/>
                <a:cs typeface="Aptos"/>
              </a:rPr>
              <a:t>4 · POINTS DE VIGILANCE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8007B59-F407-434F-BF29-F30FCFF1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233F"/>
                </a:solidFill>
                <a:latin typeface="Aptos"/>
                <a:ea typeface="Aptos"/>
                <a:cs typeface="Aptos"/>
              </a:rPr>
              <a:t> Cinq fragilités concentrent l’essentiel du risque opérationnel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2F7A97B-D9B4-4C3E-B528-5F6FDA9C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5B38C27B-C9F5-4EB0-910A-581763D1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weak-bg0">
            <a:extLst xmlns:a="http://schemas.openxmlformats.org/drawingml/2006/main">
              <a:ext uri="{FF2B5EF4-FFF2-40B4-BE49-F238E27FC236}">
                <a16:creationId xmlns:a16="http://schemas.microsoft.com/office/drawing/2014/main" id="{5B31B8B0-2EA5-4F54-984B-8A87171B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10668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eak-score0">
            <a:extLst xmlns:a="http://schemas.openxmlformats.org/drawingml/2006/main">
              <a:ext uri="{FF2B5EF4-FFF2-40B4-BE49-F238E27FC236}">
                <a16:creationId xmlns:a16="http://schemas.microsoft.com/office/drawing/2014/main" id="{AF4B6960-F01F-49C7-B634-54553B03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0975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3D3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43D3D"/>
                </a:solidFill>
                <a:latin typeface="Aptos"/>
                <a:ea typeface="Aptos"/>
                <a:cs typeface="Aptos"/>
              </a:rPr>
              <a:t>1,20</a:t>
            </a:r>
          </a:p>
        </p:txBody>
      </p:sp>
      <p:sp>
        <p:nvSpPr>
          <p:cNvPr id="7" name="weak-label0">
            <a:extLst xmlns:a="http://schemas.openxmlformats.org/drawingml/2006/main">
              <a:ext uri="{FF2B5EF4-FFF2-40B4-BE49-F238E27FC236}">
                <a16:creationId xmlns:a16="http://schemas.microsoft.com/office/drawing/2014/main" id="{CC0A0AE2-78EC-46D3-B991-F36D0782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57375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Activités génératrices de revenus</a:t>
            </a:r>
          </a:p>
        </p:txBody>
      </p:sp>
      <p:sp>
        <p:nvSpPr>
          <p:cNvPr id="8" name="weak-bg1">
            <a:extLst xmlns:a="http://schemas.openxmlformats.org/drawingml/2006/main">
              <a:ext uri="{FF2B5EF4-FFF2-40B4-BE49-F238E27FC236}">
                <a16:creationId xmlns:a16="http://schemas.microsoft.com/office/drawing/2014/main" id="{C7D28A8B-7592-4706-86AC-8B8DEBB1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10668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eak-score1">
            <a:extLst xmlns:a="http://schemas.openxmlformats.org/drawingml/2006/main">
              <a:ext uri="{FF2B5EF4-FFF2-40B4-BE49-F238E27FC236}">
                <a16:creationId xmlns:a16="http://schemas.microsoft.com/office/drawing/2014/main" id="{99060431-C4F9-4DBA-AE88-945FD7B1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0037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3D3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43D3D"/>
                </a:solidFill>
                <a:latin typeface="Aptos"/>
                <a:ea typeface="Aptos"/>
                <a:cs typeface="Aptos"/>
              </a:rPr>
              <a:t>1,45</a:t>
            </a:r>
          </a:p>
        </p:txBody>
      </p:sp>
      <p:sp>
        <p:nvSpPr>
          <p:cNvPr id="10" name="weak-label1">
            <a:extLst xmlns:a="http://schemas.openxmlformats.org/drawingml/2006/main">
              <a:ext uri="{FF2B5EF4-FFF2-40B4-BE49-F238E27FC236}">
                <a16:creationId xmlns:a16="http://schemas.microsoft.com/office/drawing/2014/main" id="{BE9536ED-22E6-471B-8588-27335C13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4800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Fonds d’urgence et réponse aux crises</a:t>
            </a:r>
          </a:p>
        </p:txBody>
      </p:sp>
      <p:sp>
        <p:nvSpPr>
          <p:cNvPr id="11" name="weak-bg2">
            <a:extLst xmlns:a="http://schemas.openxmlformats.org/drawingml/2006/main">
              <a:ext uri="{FF2B5EF4-FFF2-40B4-BE49-F238E27FC236}">
                <a16:creationId xmlns:a16="http://schemas.microsoft.com/office/drawing/2014/main" id="{B6FAB943-279F-4934-AD67-09CC94AA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10668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eak-score2">
            <a:extLst xmlns:a="http://schemas.openxmlformats.org/drawingml/2006/main">
              <a:ext uri="{FF2B5EF4-FFF2-40B4-BE49-F238E27FC236}">
                <a16:creationId xmlns:a16="http://schemas.microsoft.com/office/drawing/2014/main" id="{8082AF0E-6F8C-4EF1-8F25-A11CC011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9100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3D3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43D3D"/>
                </a:solidFill>
                <a:latin typeface="Aptos"/>
                <a:ea typeface="Aptos"/>
                <a:cs typeface="Aptos"/>
              </a:rPr>
              <a:t>1,98</a:t>
            </a:r>
          </a:p>
        </p:txBody>
      </p:sp>
      <p:sp>
        <p:nvSpPr>
          <p:cNvPr id="13" name="weak-label2">
            <a:extLst xmlns:a="http://schemas.openxmlformats.org/drawingml/2006/main">
              <a:ext uri="{FF2B5EF4-FFF2-40B4-BE49-F238E27FC236}">
                <a16:creationId xmlns:a16="http://schemas.microsoft.com/office/drawing/2014/main" id="{D0149CD3-C448-4D2E-A851-53FBCB19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38625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Participation des élèves au bureau</a:t>
            </a:r>
          </a:p>
        </p:txBody>
      </p:sp>
      <p:sp>
        <p:nvSpPr>
          <p:cNvPr id="14" name="weak-bg3">
            <a:extLst xmlns:a="http://schemas.openxmlformats.org/drawingml/2006/main">
              <a:ext uri="{FF2B5EF4-FFF2-40B4-BE49-F238E27FC236}">
                <a16:creationId xmlns:a16="http://schemas.microsoft.com/office/drawing/2014/main" id="{10A90E53-26DA-4872-B6E7-B367D362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191125"/>
            <a:ext cx="3333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weak-score3">
            <a:extLst xmlns:a="http://schemas.openxmlformats.org/drawingml/2006/main">
              <a:ext uri="{FF2B5EF4-FFF2-40B4-BE49-F238E27FC236}">
                <a16:creationId xmlns:a16="http://schemas.microsoft.com/office/drawing/2014/main" id="{C21810FE-D067-4684-9F15-38D592F5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33400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3D3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43D3D"/>
                </a:solidFill>
                <a:latin typeface="Aptos"/>
                <a:ea typeface="Aptos"/>
                <a:cs typeface="Aptos"/>
              </a:rPr>
              <a:t>2,11</a:t>
            </a:r>
          </a:p>
        </p:txBody>
      </p:sp>
      <p:sp>
        <p:nvSpPr>
          <p:cNvPr id="16" name="weak-label3">
            <a:extLst xmlns:a="http://schemas.openxmlformats.org/drawingml/2006/main">
              <a:ext uri="{FF2B5EF4-FFF2-40B4-BE49-F238E27FC236}">
                <a16:creationId xmlns:a16="http://schemas.microsoft.com/office/drawing/2014/main" id="{6818F7B8-0FB7-47CF-B8D5-1DAB4E2D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816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13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Disponibilité du règlement intérieur</a:t>
            </a:r>
          </a:p>
        </p:txBody>
      </p:sp>
      <p:sp>
        <p:nvSpPr>
          <p:cNvPr id="17" name="weak-bg4">
            <a:extLst xmlns:a="http://schemas.openxmlformats.org/drawingml/2006/main">
              <a:ext uri="{FF2B5EF4-FFF2-40B4-BE49-F238E27FC236}">
                <a16:creationId xmlns:a16="http://schemas.microsoft.com/office/drawing/2014/main" id="{5AA9BD5F-9E6C-44BD-9126-11E92AE2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191125"/>
            <a:ext cx="3333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eak-score4">
            <a:extLst xmlns:a="http://schemas.openxmlformats.org/drawingml/2006/main">
              <a:ext uri="{FF2B5EF4-FFF2-40B4-BE49-F238E27FC236}">
                <a16:creationId xmlns:a16="http://schemas.microsoft.com/office/drawing/2014/main" id="{97DCAD1C-F4BE-4822-9549-8AB75D5D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33400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3D3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43D3D"/>
                </a:solidFill>
                <a:latin typeface="Aptos"/>
                <a:ea typeface="Aptos"/>
                <a:cs typeface="Aptos"/>
              </a:rPr>
              <a:t>2,59</a:t>
            </a:r>
          </a:p>
        </p:txBody>
      </p:sp>
      <p:sp>
        <p:nvSpPr>
          <p:cNvPr id="19" name="weak-label4">
            <a:extLst xmlns:a="http://schemas.openxmlformats.org/drawingml/2006/main">
              <a:ext uri="{FF2B5EF4-FFF2-40B4-BE49-F238E27FC236}">
                <a16:creationId xmlns:a16="http://schemas.microsoft.com/office/drawing/2014/main" id="{4E52B94B-0D67-4516-BAEE-DABC7F64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3816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1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Collaboration avec collectivités et ONG</a:t>
            </a:r>
          </a:p>
        </p:txBody>
      </p:sp>
    </p:spTree>
    <p:extLst>
      <p:ext uri="{BB962C8B-B14F-4D97-AF65-F5344CB8AC3E}">
        <p14:creationId xmlns:p14="http://schemas.microsoft.com/office/powerpoint/2010/main" val="6785330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85348C62-8D66-4FFB-B395-025C1878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E9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5E9A"/>
                </a:solidFill>
                <a:latin typeface="Aptos"/>
                <a:ea typeface="Aptos"/>
                <a:cs typeface="Aptos"/>
              </a:rPr>
              <a:t>5 · CONTRÔLE DOCUMENTAIRE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603FBB3-D038-4B1A-BE2A-1A7182CC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233F"/>
                </a:solidFill>
                <a:latin typeface="Aptos"/>
                <a:ea typeface="Aptos"/>
                <a:cs typeface="Aptos"/>
              </a:rPr>
              <a:t> La preuve documentaire confirme les forces… et révèle les écarts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99470DD-FE48-47FB-BF37-4B2A6E1E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5ECB316F-C350-4B74-BE92-10F0DDEB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666875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f69adb469e4e19"/>
          </a:graphicData>
        </a:graphic>
      </p:graphicFrame>
      <p:sp>
        <p:nvSpPr>
          <p:cNvPr id="6" name="proof-rate">
            <a:extLst xmlns:a="http://schemas.openxmlformats.org/drawingml/2006/main">
              <a:ext uri="{FF2B5EF4-FFF2-40B4-BE49-F238E27FC236}">
                <a16:creationId xmlns:a16="http://schemas.microsoft.com/office/drawing/2014/main" id="{E2DBC601-CFE8-4BFE-879B-7162892C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55E9A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155E9A"/>
                </a:solidFill>
                <a:latin typeface="Aptos"/>
                <a:ea typeface="Aptos"/>
                <a:cs typeface="Aptos"/>
              </a:rPr>
              <a:t>48,5 %</a:t>
            </a:r>
          </a:p>
        </p:txBody>
      </p:sp>
      <p:sp>
        <p:nvSpPr>
          <p:cNvPr id="7" name="proof-label">
            <a:extLst xmlns:a="http://schemas.openxmlformats.org/drawingml/2006/main">
              <a:ext uri="{FF2B5EF4-FFF2-40B4-BE49-F238E27FC236}">
                <a16:creationId xmlns:a16="http://schemas.microsoft.com/office/drawing/2014/main" id="{65A11AE6-7431-4A9C-9DA3-47A93B41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241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des 4 080 pièces attendues sont disponibles</a:t>
            </a:r>
          </a:p>
        </p:txBody>
      </p:sp>
      <p:sp>
        <p:nvSpPr>
          <p:cNvPr id="8" name="proof-alert">
            <a:extLst xmlns:a="http://schemas.openxmlformats.org/drawingml/2006/main">
              <a:ext uri="{FF2B5EF4-FFF2-40B4-BE49-F238E27FC236}">
                <a16:creationId xmlns:a16="http://schemas.microsoft.com/office/drawing/2014/main" id="{68120E45-4C7A-491D-A4D3-CEFEF343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57625"/>
            <a:ext cx="3429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of-alert-title">
            <a:extLst xmlns:a="http://schemas.openxmlformats.org/drawingml/2006/main">
              <a:ext uri="{FF2B5EF4-FFF2-40B4-BE49-F238E27FC236}">
                <a16:creationId xmlns:a16="http://schemas.microsoft.com/office/drawing/2014/main" id="{4FC130F4-721B-41A3-A739-1A27DDC1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76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43D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43D3D"/>
                </a:solidFill>
                <a:latin typeface="Aptos"/>
                <a:ea typeface="Aptos"/>
                <a:cs typeface="Aptos"/>
              </a:rPr>
              <a:t>Pièces les plus rares</a:t>
            </a:r>
          </a:p>
        </p:txBody>
      </p:sp>
      <p:sp>
        <p:nvSpPr>
          <p:cNvPr id="10" name="proof-alert-copy">
            <a:extLst xmlns:a="http://schemas.openxmlformats.org/drawingml/2006/main">
              <a:ext uri="{FF2B5EF4-FFF2-40B4-BE49-F238E27FC236}">
                <a16:creationId xmlns:a16="http://schemas.microsoft.com/office/drawing/2014/main" id="{96CBE292-EC0E-4C23-B196-9ECE1A44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7675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1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Documents AGR : 1 %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Protection / santé : 12 %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Règlement intérieur : 26 %</a:t>
            </a:r>
          </a:p>
        </p:txBody>
      </p:sp>
    </p:spTree>
    <p:extLst>
      <p:ext uri="{BB962C8B-B14F-4D97-AF65-F5344CB8AC3E}">
        <p14:creationId xmlns:p14="http://schemas.microsoft.com/office/powerpoint/2010/main" val="18090917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EA1E82A8-A8ED-4AD6-829D-023A6B18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E9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5E9A"/>
                </a:solidFill>
                <a:latin typeface="Aptos"/>
                <a:ea typeface="Aptos"/>
                <a:cs typeface="Aptos"/>
              </a:rPr>
              <a:t>5 · CAPACITÉS DES BUREAUX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E8A93C5-6826-412E-A38F-860B9627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233F"/>
                </a:solidFill>
                <a:latin typeface="Aptos"/>
                <a:ea typeface="Aptos"/>
                <a:cs typeface="Aptos"/>
              </a:rPr>
              <a:t> Les bureaux sont presque paritaires, mais la professionnalisation reste à renforcer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CCD56DE-EFF1-4AD0-895C-F6C56408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5B72BD29-A7D3-4639-B0CC-78005352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stat-bg-de femmes parmi 2 244 membres">
            <a:extLst xmlns:a="http://schemas.openxmlformats.org/drawingml/2006/main">
              <a:ext uri="{FF2B5EF4-FFF2-40B4-BE49-F238E27FC236}">
                <a16:creationId xmlns:a16="http://schemas.microsoft.com/office/drawing/2014/main" id="{E856618B-DF60-4B44-B8DD-AEF58F25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3238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t-accent-de femmes parmi 2 244 membres">
            <a:extLst xmlns:a="http://schemas.openxmlformats.org/drawingml/2006/main">
              <a:ext uri="{FF2B5EF4-FFF2-40B4-BE49-F238E27FC236}">
                <a16:creationId xmlns:a16="http://schemas.microsoft.com/office/drawing/2014/main" id="{5EE5A4C8-0EEA-4CC6-AE92-B97BBF47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76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t-value-de femmes parmi 2 244 membres">
            <a:extLst xmlns:a="http://schemas.openxmlformats.org/drawingml/2006/main">
              <a:ext uri="{FF2B5EF4-FFF2-40B4-BE49-F238E27FC236}">
                <a16:creationId xmlns:a16="http://schemas.microsoft.com/office/drawing/2014/main" id="{AF083B41-2FF8-420F-9540-9241FF80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81200"/>
            <a:ext cx="280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9A7AE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9A7AE"/>
                </a:solidFill>
                <a:latin typeface="Aptos"/>
                <a:ea typeface="Aptos"/>
                <a:cs typeface="Aptos"/>
              </a:rPr>
              <a:t>46 %</a:t>
            </a:r>
          </a:p>
        </p:txBody>
      </p:sp>
      <p:sp>
        <p:nvSpPr>
          <p:cNvPr id="8" name="stat-label-de femmes parmi 2 244 membres">
            <a:extLst xmlns:a="http://schemas.openxmlformats.org/drawingml/2006/main">
              <a:ext uri="{FF2B5EF4-FFF2-40B4-BE49-F238E27FC236}">
                <a16:creationId xmlns:a16="http://schemas.microsoft.com/office/drawing/2014/main" id="{D99CB250-1938-4D48-BB49-3EA508E8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14625"/>
            <a:ext cx="280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de femmes parmi 2 244 membres</a:t>
            </a:r>
          </a:p>
        </p:txBody>
      </p:sp>
      <p:sp>
        <p:nvSpPr>
          <p:cNvPr id="9" name="stat-bg-déclarent une formation COGES">
            <a:extLst xmlns:a="http://schemas.openxmlformats.org/drawingml/2006/main">
              <a:ext uri="{FF2B5EF4-FFF2-40B4-BE49-F238E27FC236}">
                <a16:creationId xmlns:a16="http://schemas.microsoft.com/office/drawing/2014/main" id="{1397CC8E-74ED-4611-95AD-8B89F27C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3238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t-accent-déclarent une formation COGES">
            <a:extLst xmlns:a="http://schemas.openxmlformats.org/drawingml/2006/main">
              <a:ext uri="{FF2B5EF4-FFF2-40B4-BE49-F238E27FC236}">
                <a16:creationId xmlns:a16="http://schemas.microsoft.com/office/drawing/2014/main" id="{66DEB9D4-F26E-466B-A8C5-0A8B5413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76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t-value-déclarent une formation COGES">
            <a:extLst xmlns:a="http://schemas.openxmlformats.org/drawingml/2006/main">
              <a:ext uri="{FF2B5EF4-FFF2-40B4-BE49-F238E27FC236}">
                <a16:creationId xmlns:a16="http://schemas.microsoft.com/office/drawing/2014/main" id="{02094EAB-3DEC-42CB-8167-8650772A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81200"/>
            <a:ext cx="280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8A31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E8A317"/>
                </a:solidFill>
                <a:latin typeface="Aptos"/>
                <a:ea typeface="Aptos"/>
                <a:cs typeface="Aptos"/>
              </a:rPr>
              <a:t>33 %</a:t>
            </a:r>
          </a:p>
        </p:txBody>
      </p:sp>
      <p:sp>
        <p:nvSpPr>
          <p:cNvPr id="12" name="stat-label-déclarent une formation COGES">
            <a:extLst xmlns:a="http://schemas.openxmlformats.org/drawingml/2006/main">
              <a:ext uri="{FF2B5EF4-FFF2-40B4-BE49-F238E27FC236}">
                <a16:creationId xmlns:a16="http://schemas.microsoft.com/office/drawing/2014/main" id="{043EF3CC-5873-45B7-A438-A05C5E76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14625"/>
            <a:ext cx="280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déclarent une formation COGES</a:t>
            </a:r>
          </a:p>
        </p:txBody>
      </p:sp>
      <p:sp>
        <p:nvSpPr>
          <p:cNvPr id="13" name="stat-bg-ont une bonne maîtrise du rôle">
            <a:extLst xmlns:a="http://schemas.openxmlformats.org/drawingml/2006/main">
              <a:ext uri="{FF2B5EF4-FFF2-40B4-BE49-F238E27FC236}">
                <a16:creationId xmlns:a16="http://schemas.microsoft.com/office/drawing/2014/main" id="{FE4B1AB7-4AB7-41EF-8AEE-4424203D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14500"/>
            <a:ext cx="3238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at-accent-ont une bonne maîtrise du rôle">
            <a:extLst xmlns:a="http://schemas.openxmlformats.org/drawingml/2006/main">
              <a:ext uri="{FF2B5EF4-FFF2-40B4-BE49-F238E27FC236}">
                <a16:creationId xmlns:a16="http://schemas.microsoft.com/office/drawing/2014/main" id="{E49AB40A-BF77-4CA8-A304-AC13DB86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14500"/>
            <a:ext cx="76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t-value-ont une bonne maîtrise du rôle">
            <a:extLst xmlns:a="http://schemas.openxmlformats.org/drawingml/2006/main">
              <a:ext uri="{FF2B5EF4-FFF2-40B4-BE49-F238E27FC236}">
                <a16:creationId xmlns:a16="http://schemas.microsoft.com/office/drawing/2014/main" id="{6F8A889C-A67B-4193-B5AB-5261CCAF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981200"/>
            <a:ext cx="280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E8B6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2E8B67"/>
                </a:solidFill>
                <a:latin typeface="Aptos"/>
                <a:ea typeface="Aptos"/>
                <a:cs typeface="Aptos"/>
              </a:rPr>
              <a:t>15 %</a:t>
            </a:r>
          </a:p>
        </p:txBody>
      </p:sp>
      <p:sp>
        <p:nvSpPr>
          <p:cNvPr id="16" name="stat-label-ont une bonne maîtrise du rôle">
            <a:extLst xmlns:a="http://schemas.openxmlformats.org/drawingml/2006/main">
              <a:ext uri="{FF2B5EF4-FFF2-40B4-BE49-F238E27FC236}">
                <a16:creationId xmlns:a16="http://schemas.microsoft.com/office/drawing/2014/main" id="{625368A1-D24D-4E1A-A537-DAB25BD7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714625"/>
            <a:ext cx="280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ont une bonne maîtrise du rôle</a:t>
            </a:r>
          </a:p>
        </p:txBody>
      </p:sp>
      <p:sp>
        <p:nvSpPr>
          <p:cNvPr id="17" name="mastery-title">
            <a:extLst xmlns:a="http://schemas.openxmlformats.org/drawingml/2006/main">
              <a:ext uri="{FF2B5EF4-FFF2-40B4-BE49-F238E27FC236}">
                <a16:creationId xmlns:a16="http://schemas.microsoft.com/office/drawing/2014/main" id="{694157E9-03B5-4DC7-A63D-29DE6D9F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3387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33F"/>
                </a:solidFill>
                <a:latin typeface="Aptos"/>
                <a:ea typeface="Aptos"/>
                <a:cs typeface="Aptos"/>
              </a:rPr>
              <a:t>Maîtrise du rôle déclarée</a:t>
            </a:r>
          </a:p>
        </p:txBody>
      </p:sp>
      <p:graphicFrame>
        <p:nvGraphicFramePr>
          <p:cNvPr id="37" name="Chart"/>
          <p:cNvGraphicFramePr/>
          <p:nvPr/>
        </p:nvGraphicFramePr>
        <p:xfrm>
          <a:off xmlns:a="http://schemas.openxmlformats.org/drawingml/2006/main" x="523875" y="4714875"/>
          <a:ext xmlns:a="http://schemas.openxmlformats.org/drawingml/2006/main" cx="6191250" cy="1524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c60e1a23244180"/>
          </a:graphicData>
        </a:graphic>
      </p:graphicFrame>
      <p:sp>
        <p:nvSpPr>
          <p:cNvPr id="19" name="capacity-msg">
            <a:extLst xmlns:a="http://schemas.openxmlformats.org/drawingml/2006/main">
              <a:ext uri="{FF2B5EF4-FFF2-40B4-BE49-F238E27FC236}">
                <a16:creationId xmlns:a16="http://schemas.microsoft.com/office/drawing/2014/main" id="{279CEF92-47A8-47F1-AA1B-634A3C00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52950"/>
            <a:ext cx="361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9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3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33F"/>
                </a:solidFill>
                <a:latin typeface="Aptos"/>
                <a:ea typeface="Aptos"/>
                <a:cs typeface="Aptos"/>
              </a:rPr>
              <a:t>Le renouvellement des bureaux doit s’accompagner d’un parcours de formation ciblé sur les responsabilités et les outils de gestion.</a:t>
            </a:r>
          </a:p>
        </p:txBody>
      </p:sp>
    </p:spTree>
    <p:extLst>
      <p:ext uri="{BB962C8B-B14F-4D97-AF65-F5344CB8AC3E}">
        <p14:creationId xmlns:p14="http://schemas.microsoft.com/office/powerpoint/2010/main" val="10410009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22DDA958-F4C6-4F3E-9458-4B421A63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E9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5E9A"/>
                </a:solidFill>
                <a:latin typeface="Aptos"/>
                <a:ea typeface="Aptos"/>
                <a:cs typeface="Aptos"/>
              </a:rPr>
              <a:t>6 · RECOMMANDATIONS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CCDE6B4-8A6F-4AFE-8726-CEC52C1D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3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233F"/>
                </a:solidFill>
                <a:latin typeface="Aptos"/>
                <a:ea typeface="Aptos"/>
                <a:cs typeface="Aptos"/>
              </a:rPr>
              <a:t> Trois priorités transforment les constats en plan d’action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95DDCEF-6856-418B-A016-402BD717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5A66964D-F3EA-4C21-8E0D-2049D213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08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prio-num0">
            <a:extLst xmlns:a="http://schemas.openxmlformats.org/drawingml/2006/main">
              <a:ext uri="{FF2B5EF4-FFF2-40B4-BE49-F238E27FC236}">
                <a16:creationId xmlns:a16="http://schemas.microsoft.com/office/drawing/2014/main" id="{A7E26EE6-7073-4505-B1C6-042CB4B7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66875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8A31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8A31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prio-title0">
            <a:extLst xmlns:a="http://schemas.openxmlformats.org/drawingml/2006/main">
              <a:ext uri="{FF2B5EF4-FFF2-40B4-BE49-F238E27FC236}">
                <a16:creationId xmlns:a16="http://schemas.microsoft.com/office/drawing/2014/main" id="{8486A3E8-A54E-4DBB-A2AA-E45347DD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668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233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233F"/>
                </a:solidFill>
                <a:latin typeface="Aptos"/>
                <a:ea typeface="Aptos"/>
                <a:cs typeface="Aptos"/>
              </a:rPr>
              <a:t>Sécuriser la gouvernance</a:t>
            </a:r>
          </a:p>
        </p:txBody>
      </p:sp>
      <p:sp>
        <p:nvSpPr>
          <p:cNvPr id="7" name="prio-body0">
            <a:extLst xmlns:a="http://schemas.openxmlformats.org/drawingml/2006/main">
              <a:ext uri="{FF2B5EF4-FFF2-40B4-BE49-F238E27FC236}">
                <a16:creationId xmlns:a16="http://schemas.microsoft.com/office/drawing/2014/main" id="{6CAB5F5E-AF2E-4A3D-8FE6-B5D462A6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66875"/>
            <a:ext cx="561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Mettre à disposition le règlement intérieur, actualiser les listes et systématiser les PV avec présence.</a:t>
            </a:r>
          </a:p>
        </p:txBody>
      </p:sp>
      <p:sp>
        <p:nvSpPr>
          <p:cNvPr id="8" name="prio-line0">
            <a:extLst xmlns:a="http://schemas.openxmlformats.org/drawingml/2006/main">
              <a:ext uri="{FF2B5EF4-FFF2-40B4-BE49-F238E27FC236}">
                <a16:creationId xmlns:a16="http://schemas.microsoft.com/office/drawing/2014/main" id="{F248C1E9-741A-4808-B0ED-DE1862D1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14625"/>
            <a:ext cx="985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o-num1">
            <a:extLst xmlns:a="http://schemas.openxmlformats.org/drawingml/2006/main">
              <a:ext uri="{FF2B5EF4-FFF2-40B4-BE49-F238E27FC236}">
                <a16:creationId xmlns:a16="http://schemas.microsoft.com/office/drawing/2014/main" id="{F5A69A47-31FF-431E-B966-45C5ADFF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95625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8A31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8A31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prio-title1">
            <a:extLst xmlns:a="http://schemas.openxmlformats.org/drawingml/2006/main">
              <a:ext uri="{FF2B5EF4-FFF2-40B4-BE49-F238E27FC236}">
                <a16:creationId xmlns:a16="http://schemas.microsoft.com/office/drawing/2014/main" id="{44BF8C9D-3C87-4ADF-A7BD-A3AC6D7D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9562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233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233F"/>
                </a:solidFill>
                <a:latin typeface="Aptos"/>
                <a:ea typeface="Aptos"/>
                <a:cs typeface="Aptos"/>
              </a:rPr>
              <a:t>Renforcer l’autonomie financière</a:t>
            </a:r>
          </a:p>
        </p:txBody>
      </p:sp>
      <p:sp>
        <p:nvSpPr>
          <p:cNvPr id="11" name="prio-body1">
            <a:extLst xmlns:a="http://schemas.openxmlformats.org/drawingml/2006/main">
              <a:ext uri="{FF2B5EF4-FFF2-40B4-BE49-F238E27FC236}">
                <a16:creationId xmlns:a16="http://schemas.microsoft.com/office/drawing/2014/main" id="{54E0172E-2153-4723-9D91-8F07B49C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95625"/>
            <a:ext cx="561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Accompagner les AGR, les journaux comptables et la constitution progressive d’un fonds d’urgence.</a:t>
            </a:r>
          </a:p>
        </p:txBody>
      </p:sp>
      <p:sp>
        <p:nvSpPr>
          <p:cNvPr id="12" name="prio-line1">
            <a:extLst xmlns:a="http://schemas.openxmlformats.org/drawingml/2006/main">
              <a:ext uri="{FF2B5EF4-FFF2-40B4-BE49-F238E27FC236}">
                <a16:creationId xmlns:a16="http://schemas.microsoft.com/office/drawing/2014/main" id="{8B45C34A-2D26-4E11-AA69-8111B970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43375"/>
            <a:ext cx="985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io-num2">
            <a:extLst xmlns:a="http://schemas.openxmlformats.org/drawingml/2006/main">
              <a:ext uri="{FF2B5EF4-FFF2-40B4-BE49-F238E27FC236}">
                <a16:creationId xmlns:a16="http://schemas.microsoft.com/office/drawing/2014/main" id="{E154D950-9E75-41A9-9F2F-122A3C25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24375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8A31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8A31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prio-title2">
            <a:extLst xmlns:a="http://schemas.openxmlformats.org/drawingml/2006/main">
              <a:ext uri="{FF2B5EF4-FFF2-40B4-BE49-F238E27FC236}">
                <a16:creationId xmlns:a16="http://schemas.microsoft.com/office/drawing/2014/main" id="{865CC01E-CAF4-48B3-9962-B7E8809F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243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233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233F"/>
                </a:solidFill>
                <a:latin typeface="Aptos"/>
                <a:ea typeface="Aptos"/>
                <a:cs typeface="Aptos"/>
              </a:rPr>
              <a:t>Professionnaliser et ouvrir</a:t>
            </a:r>
          </a:p>
        </p:txBody>
      </p:sp>
      <p:sp>
        <p:nvSpPr>
          <p:cNvPr id="15" name="prio-body2">
            <a:extLst xmlns:a="http://schemas.openxmlformats.org/drawingml/2006/main">
              <a:ext uri="{FF2B5EF4-FFF2-40B4-BE49-F238E27FC236}">
                <a16:creationId xmlns:a16="http://schemas.microsoft.com/office/drawing/2014/main" id="{B06E49CB-D792-4414-9B86-017BFF6E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24375"/>
            <a:ext cx="561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Former les membres sur leurs rôles et renforcer les liens avec collectivités, ONG et autres COGES.</a:t>
            </a:r>
          </a:p>
        </p:txBody>
      </p:sp>
      <p:sp>
        <p:nvSpPr>
          <p:cNvPr id="16" name="prio-line2">
            <a:extLst xmlns:a="http://schemas.openxmlformats.org/drawingml/2006/main">
              <a:ext uri="{FF2B5EF4-FFF2-40B4-BE49-F238E27FC236}">
                <a16:creationId xmlns:a16="http://schemas.microsoft.com/office/drawing/2014/main" id="{099828CF-8DFF-466E-912F-85BF1660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72125"/>
            <a:ext cx="985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E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299698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ld-band">
            <a:extLst xmlns:a="http://schemas.openxmlformats.org/drawingml/2006/main">
              <a:ext uri="{FF2B5EF4-FFF2-40B4-BE49-F238E27FC236}">
                <a16:creationId xmlns:a16="http://schemas.microsoft.com/office/drawing/2014/main" id="{76D69A61-3F07-4B75-B715-71CD79C0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3FB8C5CA-1786-4966-A296-4782E41D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A3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A317"/>
                </a:solidFill>
                <a:latin typeface="Aptos"/>
                <a:ea typeface="Aptos"/>
                <a:cs typeface="Aptos"/>
              </a:rPr>
              <a:t>MESSAGE CLÉ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2FE2EAC4-08FB-42BE-9A14-692E17D4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66875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Passer du diagnostic à un accompagnement différencié</a:t>
            </a:r>
          </a:p>
        </p:txBody>
      </p:sp>
      <p:sp>
        <p:nvSpPr>
          <p:cNvPr id="4" name="close-copy">
            <a:extLst xmlns:a="http://schemas.openxmlformats.org/drawingml/2006/main">
              <a:ext uri="{FF2B5EF4-FFF2-40B4-BE49-F238E27FC236}">
                <a16:creationId xmlns:a16="http://schemas.microsoft.com/office/drawing/2014/main" id="{321ECDBB-502A-4FD7-ABF5-448D0281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6E3F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D6E3F0"/>
                </a:solidFill>
                <a:latin typeface="Aptos"/>
                <a:ea typeface="Aptos"/>
                <a:cs typeface="Aptos"/>
              </a:rPr>
              <a:t>La collecte montre un socle institutionnel réel. Le prochain enjeu est de cibler les COGES et les dimensions les plus fragiles, puis de suivre la disponibilité effective des preuves.</a:t>
            </a:r>
          </a:p>
        </p:txBody>
      </p:sp>
      <p:sp>
        <p:nvSpPr>
          <p:cNvPr id="5" name="close-rule">
            <a:extLst xmlns:a="http://schemas.openxmlformats.org/drawingml/2006/main">
              <a:ext uri="{FF2B5EF4-FFF2-40B4-BE49-F238E27FC236}">
                <a16:creationId xmlns:a16="http://schemas.microsoft.com/office/drawing/2014/main" id="{7552DE62-8642-46DC-9F14-65EC86D0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1009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e-question">
            <a:extLst xmlns:a="http://schemas.openxmlformats.org/drawingml/2006/main">
              <a:ext uri="{FF2B5EF4-FFF2-40B4-BE49-F238E27FC236}">
                <a16:creationId xmlns:a16="http://schemas.microsoft.com/office/drawing/2014/main" id="{760210F1-1D80-4315-8162-ED8DC3A9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816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Quelles actions pouvons-nous engager en priorité dès le prochain trimestre ?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53DD23C-7BAD-4AA9-A424-76102100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8C7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C7D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962837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2026-08-02T23:01:22.2730000Z</dcterms:created>
  <dcterms:modified xsi:type="dcterms:W3CDTF">2026-08-02T23:01:22.2740000Z</dcterms:modified>
</coreProperties>
</file>